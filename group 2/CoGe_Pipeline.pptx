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5" r:id="rId8"/>
    <p:sldId id="262" r:id="rId9"/>
    <p:sldId id="276" r:id="rId10"/>
    <p:sldId id="263" r:id="rId11"/>
    <p:sldId id="277" r:id="rId12"/>
    <p:sldId id="264" r:id="rId13"/>
    <p:sldId id="279" r:id="rId14"/>
    <p:sldId id="265" r:id="rId15"/>
    <p:sldId id="278" r:id="rId16"/>
    <p:sldId id="266" r:id="rId17"/>
    <p:sldId id="267" r:id="rId18"/>
    <p:sldId id="280" r:id="rId19"/>
    <p:sldId id="268" r:id="rId20"/>
    <p:sldId id="269" r:id="rId21"/>
    <p:sldId id="282" r:id="rId22"/>
    <p:sldId id="270" r:id="rId23"/>
    <p:sldId id="271" r:id="rId24"/>
    <p:sldId id="272" r:id="rId25"/>
    <p:sldId id="273" r:id="rId26"/>
    <p:sldId id="274" r:id="rId27"/>
    <p:sldId id="281" r:id="rId28"/>
    <p:sldId id="287" r:id="rId29"/>
    <p:sldId id="283" r:id="rId30"/>
    <p:sldId id="286" r:id="rId31"/>
    <p:sldId id="284" r:id="rId32"/>
    <p:sldId id="285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FD877F-9954-8A3A-EB8B-5B65CAC38C76}" v="501" dt="2025-11-18T18:35:55.367"/>
    <p1510:client id="{B281D780-6290-3D00-61C0-98DDF5429EA1}" v="236" dt="2025-11-18T14:10:02.484"/>
    <p1510:client id="{C3AE12EE-1A2E-2F43-6E7B-1C2785F8EF17}" v="197" dt="2025-11-19T07:31:01.084"/>
    <p1510:client id="{D759BF8B-7F65-25D5-905F-434A180A029D}" v="1195" dt="2025-11-18T13:30:21.0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75860A6-DD7C-46E7-B121-88F9E633CDB3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CDBCB59-7A0C-4EFF-A5B2-04122629D4E2}">
      <dgm:prSet/>
      <dgm:spPr/>
      <dgm:t>
        <a:bodyPr/>
        <a:lstStyle/>
        <a:p>
          <a:r>
            <a:rPr lang="en-US"/>
            <a:t>Comparative genomics reveals shared and unique metabolic traits</a:t>
          </a:r>
        </a:p>
      </dgm:t>
    </dgm:pt>
    <dgm:pt modelId="{3FA42B1E-B0B4-407C-8AC1-98ACD28D480B}" type="parTrans" cxnId="{D680FC60-D248-4CF1-AD3C-8CC1CC6727AB}">
      <dgm:prSet/>
      <dgm:spPr/>
      <dgm:t>
        <a:bodyPr/>
        <a:lstStyle/>
        <a:p>
          <a:endParaRPr lang="en-US"/>
        </a:p>
      </dgm:t>
    </dgm:pt>
    <dgm:pt modelId="{915B1632-7E3B-48FC-954B-6B3DE00E370A}" type="sibTrans" cxnId="{D680FC60-D248-4CF1-AD3C-8CC1CC6727AB}">
      <dgm:prSet/>
      <dgm:spPr/>
      <dgm:t>
        <a:bodyPr/>
        <a:lstStyle/>
        <a:p>
          <a:endParaRPr lang="en-US"/>
        </a:p>
      </dgm:t>
    </dgm:pt>
    <dgm:pt modelId="{DB94E590-F02F-4EF4-BE6E-0688CF286F96}">
      <dgm:prSet/>
      <dgm:spPr/>
      <dgm:t>
        <a:bodyPr/>
        <a:lstStyle/>
        <a:p>
          <a:r>
            <a:rPr lang="en-US"/>
            <a:t>Metabolic pathways show enzyme-driven biochemical reactions</a:t>
          </a:r>
        </a:p>
      </dgm:t>
    </dgm:pt>
    <dgm:pt modelId="{88E92D20-C37C-4213-B8FD-7BDFF5312CEE}" type="parTrans" cxnId="{51E01AB0-FCD4-4B23-BFDB-F96CD56FF7A9}">
      <dgm:prSet/>
      <dgm:spPr/>
      <dgm:t>
        <a:bodyPr/>
        <a:lstStyle/>
        <a:p>
          <a:endParaRPr lang="en-US"/>
        </a:p>
      </dgm:t>
    </dgm:pt>
    <dgm:pt modelId="{605F0F0B-D4E3-4575-9E17-F9E50E2B18D9}" type="sibTrans" cxnId="{51E01AB0-FCD4-4B23-BFDB-F96CD56FF7A9}">
      <dgm:prSet/>
      <dgm:spPr/>
      <dgm:t>
        <a:bodyPr/>
        <a:lstStyle/>
        <a:p>
          <a:endParaRPr lang="en-US"/>
        </a:p>
      </dgm:t>
    </dgm:pt>
    <dgm:pt modelId="{7D7CCFEA-7C6D-4DF0-AD22-689AEF6136EF}">
      <dgm:prSet/>
      <dgm:spPr/>
      <dgm:t>
        <a:bodyPr/>
        <a:lstStyle/>
        <a:p>
          <a:r>
            <a:rPr lang="en-US"/>
            <a:t>KEGG Orthology (KO) links genes to enzyme functions and pathways</a:t>
          </a:r>
        </a:p>
      </dgm:t>
    </dgm:pt>
    <dgm:pt modelId="{A45F7747-5E2B-48BA-9D47-FFEEC3332E50}" type="parTrans" cxnId="{862B10E5-36B4-4D17-B989-56CB2694AAD8}">
      <dgm:prSet/>
      <dgm:spPr/>
      <dgm:t>
        <a:bodyPr/>
        <a:lstStyle/>
        <a:p>
          <a:endParaRPr lang="en-US"/>
        </a:p>
      </dgm:t>
    </dgm:pt>
    <dgm:pt modelId="{7E03E5CC-2F14-48C9-B61E-96A00C2DFC2A}" type="sibTrans" cxnId="{862B10E5-36B4-4D17-B989-56CB2694AAD8}">
      <dgm:prSet/>
      <dgm:spPr/>
      <dgm:t>
        <a:bodyPr/>
        <a:lstStyle/>
        <a:p>
          <a:endParaRPr lang="en-US"/>
        </a:p>
      </dgm:t>
    </dgm:pt>
    <dgm:pt modelId="{DC461D29-1A85-4D88-8257-6A2B7142B1E9}">
      <dgm:prSet/>
      <dgm:spPr/>
      <dgm:t>
        <a:bodyPr/>
        <a:lstStyle/>
        <a:p>
          <a:r>
            <a:rPr lang="en-US"/>
            <a:t>Enzyme annotation uncovers genome potential for metabolism and adaptation</a:t>
          </a:r>
        </a:p>
      </dgm:t>
    </dgm:pt>
    <dgm:pt modelId="{AB8AB25C-C5E9-4BA1-9D09-8241F2FAB103}" type="parTrans" cxnId="{3E130D73-DC01-4867-AB50-037F89A0902D}">
      <dgm:prSet/>
      <dgm:spPr/>
      <dgm:t>
        <a:bodyPr/>
        <a:lstStyle/>
        <a:p>
          <a:endParaRPr lang="en-US"/>
        </a:p>
      </dgm:t>
    </dgm:pt>
    <dgm:pt modelId="{E6AF2C0A-39A3-4118-9787-8A7C5C733222}" type="sibTrans" cxnId="{3E130D73-DC01-4867-AB50-037F89A0902D}">
      <dgm:prSet/>
      <dgm:spPr/>
      <dgm:t>
        <a:bodyPr/>
        <a:lstStyle/>
        <a:p>
          <a:endParaRPr lang="en-US"/>
        </a:p>
      </dgm:t>
    </dgm:pt>
    <dgm:pt modelId="{D37C90EC-2982-4869-80E7-7CE5EEEAEB5E}">
      <dgm:prSet/>
      <dgm:spPr/>
      <dgm:t>
        <a:bodyPr/>
        <a:lstStyle/>
        <a:p>
          <a:r>
            <a:rPr lang="en-US"/>
            <a:t>Combines assembly, gene prediction, annotation, and pathway mapping</a:t>
          </a:r>
        </a:p>
      </dgm:t>
    </dgm:pt>
    <dgm:pt modelId="{DE47CDB2-8085-4CA4-B1BE-D880A34D68C4}" type="parTrans" cxnId="{8BD3B7DF-EB9B-4C8A-A909-B05B2BF10146}">
      <dgm:prSet/>
      <dgm:spPr/>
      <dgm:t>
        <a:bodyPr/>
        <a:lstStyle/>
        <a:p>
          <a:endParaRPr lang="en-US"/>
        </a:p>
      </dgm:t>
    </dgm:pt>
    <dgm:pt modelId="{4BA7E260-515A-4730-ADD5-117F1BEF95F3}" type="sibTrans" cxnId="{8BD3B7DF-EB9B-4C8A-A909-B05B2BF10146}">
      <dgm:prSet/>
      <dgm:spPr/>
      <dgm:t>
        <a:bodyPr/>
        <a:lstStyle/>
        <a:p>
          <a:endParaRPr lang="en-US"/>
        </a:p>
      </dgm:t>
    </dgm:pt>
    <dgm:pt modelId="{5A6A823A-0656-4259-BD9E-486C13AF8DBF}">
      <dgm:prSet/>
      <dgm:spPr/>
      <dgm:t>
        <a:bodyPr/>
        <a:lstStyle/>
        <a:p>
          <a:r>
            <a:rPr lang="en-US"/>
            <a:t>Aids understanding of ecological roles and evolutionary link</a:t>
          </a:r>
        </a:p>
      </dgm:t>
    </dgm:pt>
    <dgm:pt modelId="{3A61B9DA-7144-4457-902E-9BE463B9590F}" type="parTrans" cxnId="{BA9E9FFD-61CF-46BD-BC41-71DB5B1EF7C1}">
      <dgm:prSet/>
      <dgm:spPr/>
      <dgm:t>
        <a:bodyPr/>
        <a:lstStyle/>
        <a:p>
          <a:endParaRPr lang="en-US"/>
        </a:p>
      </dgm:t>
    </dgm:pt>
    <dgm:pt modelId="{9C3BF3A2-0BD8-4901-A0BE-0BA595BF3677}" type="sibTrans" cxnId="{BA9E9FFD-61CF-46BD-BC41-71DB5B1EF7C1}">
      <dgm:prSet/>
      <dgm:spPr/>
      <dgm:t>
        <a:bodyPr/>
        <a:lstStyle/>
        <a:p>
          <a:endParaRPr lang="en-US"/>
        </a:p>
      </dgm:t>
    </dgm:pt>
    <dgm:pt modelId="{C7BCC932-7535-49CA-9918-91AD8F345E6A}" type="pres">
      <dgm:prSet presAssocID="{F75860A6-DD7C-46E7-B121-88F9E633CDB3}" presName="vert0" presStyleCnt="0">
        <dgm:presLayoutVars>
          <dgm:dir/>
          <dgm:animOne val="branch"/>
          <dgm:animLvl val="lvl"/>
        </dgm:presLayoutVars>
      </dgm:prSet>
      <dgm:spPr/>
    </dgm:pt>
    <dgm:pt modelId="{B3AB0F07-1012-4035-A34A-449CF9AE0233}" type="pres">
      <dgm:prSet presAssocID="{FCDBCB59-7A0C-4EFF-A5B2-04122629D4E2}" presName="thickLine" presStyleLbl="alignNode1" presStyleIdx="0" presStyleCnt="6"/>
      <dgm:spPr/>
    </dgm:pt>
    <dgm:pt modelId="{1ED07FC5-FB4D-40D5-A6EA-4A652FEAA30F}" type="pres">
      <dgm:prSet presAssocID="{FCDBCB59-7A0C-4EFF-A5B2-04122629D4E2}" presName="horz1" presStyleCnt="0"/>
      <dgm:spPr/>
    </dgm:pt>
    <dgm:pt modelId="{F6E34017-DDFF-4476-A37D-F66E683C38FF}" type="pres">
      <dgm:prSet presAssocID="{FCDBCB59-7A0C-4EFF-A5B2-04122629D4E2}" presName="tx1" presStyleLbl="revTx" presStyleIdx="0" presStyleCnt="6"/>
      <dgm:spPr/>
    </dgm:pt>
    <dgm:pt modelId="{6006EA70-FA0F-4A69-B8E9-2F0E319DAFFF}" type="pres">
      <dgm:prSet presAssocID="{FCDBCB59-7A0C-4EFF-A5B2-04122629D4E2}" presName="vert1" presStyleCnt="0"/>
      <dgm:spPr/>
    </dgm:pt>
    <dgm:pt modelId="{54322ABC-8DE4-4ACB-A15F-E0309EB889F4}" type="pres">
      <dgm:prSet presAssocID="{DB94E590-F02F-4EF4-BE6E-0688CF286F96}" presName="thickLine" presStyleLbl="alignNode1" presStyleIdx="1" presStyleCnt="6"/>
      <dgm:spPr/>
    </dgm:pt>
    <dgm:pt modelId="{31F1507F-1F3C-487F-9945-EB2DC5372861}" type="pres">
      <dgm:prSet presAssocID="{DB94E590-F02F-4EF4-BE6E-0688CF286F96}" presName="horz1" presStyleCnt="0"/>
      <dgm:spPr/>
    </dgm:pt>
    <dgm:pt modelId="{D541F9D7-C9A3-4076-9940-12C2EFE93039}" type="pres">
      <dgm:prSet presAssocID="{DB94E590-F02F-4EF4-BE6E-0688CF286F96}" presName="tx1" presStyleLbl="revTx" presStyleIdx="1" presStyleCnt="6"/>
      <dgm:spPr/>
    </dgm:pt>
    <dgm:pt modelId="{F1CC7AFF-4EBE-4C39-8710-B439EADDB55D}" type="pres">
      <dgm:prSet presAssocID="{DB94E590-F02F-4EF4-BE6E-0688CF286F96}" presName="vert1" presStyleCnt="0"/>
      <dgm:spPr/>
    </dgm:pt>
    <dgm:pt modelId="{2B17E45E-D209-4803-AA06-F69DB740B803}" type="pres">
      <dgm:prSet presAssocID="{7D7CCFEA-7C6D-4DF0-AD22-689AEF6136EF}" presName="thickLine" presStyleLbl="alignNode1" presStyleIdx="2" presStyleCnt="6"/>
      <dgm:spPr/>
    </dgm:pt>
    <dgm:pt modelId="{2020C68F-E5B4-477D-AA24-CCB0A65A928F}" type="pres">
      <dgm:prSet presAssocID="{7D7CCFEA-7C6D-4DF0-AD22-689AEF6136EF}" presName="horz1" presStyleCnt="0"/>
      <dgm:spPr/>
    </dgm:pt>
    <dgm:pt modelId="{53EA447E-6443-4E62-A205-B32F35B42D5A}" type="pres">
      <dgm:prSet presAssocID="{7D7CCFEA-7C6D-4DF0-AD22-689AEF6136EF}" presName="tx1" presStyleLbl="revTx" presStyleIdx="2" presStyleCnt="6"/>
      <dgm:spPr/>
    </dgm:pt>
    <dgm:pt modelId="{ECD47FD4-304C-4ED0-9969-B4E5CAC0FD98}" type="pres">
      <dgm:prSet presAssocID="{7D7CCFEA-7C6D-4DF0-AD22-689AEF6136EF}" presName="vert1" presStyleCnt="0"/>
      <dgm:spPr/>
    </dgm:pt>
    <dgm:pt modelId="{155703C9-A158-4D95-8206-646D52C6473B}" type="pres">
      <dgm:prSet presAssocID="{DC461D29-1A85-4D88-8257-6A2B7142B1E9}" presName="thickLine" presStyleLbl="alignNode1" presStyleIdx="3" presStyleCnt="6"/>
      <dgm:spPr/>
    </dgm:pt>
    <dgm:pt modelId="{36DF0BEC-9D0B-4D90-B9F4-21D44F3BD210}" type="pres">
      <dgm:prSet presAssocID="{DC461D29-1A85-4D88-8257-6A2B7142B1E9}" presName="horz1" presStyleCnt="0"/>
      <dgm:spPr/>
    </dgm:pt>
    <dgm:pt modelId="{5FA6A5D9-EF79-47AE-ACCD-963F52E12BEE}" type="pres">
      <dgm:prSet presAssocID="{DC461D29-1A85-4D88-8257-6A2B7142B1E9}" presName="tx1" presStyleLbl="revTx" presStyleIdx="3" presStyleCnt="6"/>
      <dgm:spPr/>
    </dgm:pt>
    <dgm:pt modelId="{8D2C9D64-CABF-4BF0-89EE-D5A11F1720D3}" type="pres">
      <dgm:prSet presAssocID="{DC461D29-1A85-4D88-8257-6A2B7142B1E9}" presName="vert1" presStyleCnt="0"/>
      <dgm:spPr/>
    </dgm:pt>
    <dgm:pt modelId="{5C93AF6D-5FDD-40DD-B0A8-DF5D15D77232}" type="pres">
      <dgm:prSet presAssocID="{D37C90EC-2982-4869-80E7-7CE5EEEAEB5E}" presName="thickLine" presStyleLbl="alignNode1" presStyleIdx="4" presStyleCnt="6"/>
      <dgm:spPr/>
    </dgm:pt>
    <dgm:pt modelId="{62698378-6598-410B-A057-2FFB7BA10AE1}" type="pres">
      <dgm:prSet presAssocID="{D37C90EC-2982-4869-80E7-7CE5EEEAEB5E}" presName="horz1" presStyleCnt="0"/>
      <dgm:spPr/>
    </dgm:pt>
    <dgm:pt modelId="{98D076BB-F0E9-428A-A2C7-6099D28FF5FC}" type="pres">
      <dgm:prSet presAssocID="{D37C90EC-2982-4869-80E7-7CE5EEEAEB5E}" presName="tx1" presStyleLbl="revTx" presStyleIdx="4" presStyleCnt="6"/>
      <dgm:spPr/>
    </dgm:pt>
    <dgm:pt modelId="{B5D5D0C0-A129-4EA1-920E-6FBC4D4E66EC}" type="pres">
      <dgm:prSet presAssocID="{D37C90EC-2982-4869-80E7-7CE5EEEAEB5E}" presName="vert1" presStyleCnt="0"/>
      <dgm:spPr/>
    </dgm:pt>
    <dgm:pt modelId="{36FB7C3F-5DC6-4FFA-9085-079467A32EB4}" type="pres">
      <dgm:prSet presAssocID="{5A6A823A-0656-4259-BD9E-486C13AF8DBF}" presName="thickLine" presStyleLbl="alignNode1" presStyleIdx="5" presStyleCnt="6"/>
      <dgm:spPr/>
    </dgm:pt>
    <dgm:pt modelId="{7BF8BA37-EC50-4DCC-9DF0-ED6E6080683F}" type="pres">
      <dgm:prSet presAssocID="{5A6A823A-0656-4259-BD9E-486C13AF8DBF}" presName="horz1" presStyleCnt="0"/>
      <dgm:spPr/>
    </dgm:pt>
    <dgm:pt modelId="{074EFCDF-D946-40F1-B541-803B945B668E}" type="pres">
      <dgm:prSet presAssocID="{5A6A823A-0656-4259-BD9E-486C13AF8DBF}" presName="tx1" presStyleLbl="revTx" presStyleIdx="5" presStyleCnt="6"/>
      <dgm:spPr/>
    </dgm:pt>
    <dgm:pt modelId="{4498434F-EAB9-4BE8-8758-A0D926E5303B}" type="pres">
      <dgm:prSet presAssocID="{5A6A823A-0656-4259-BD9E-486C13AF8DBF}" presName="vert1" presStyleCnt="0"/>
      <dgm:spPr/>
    </dgm:pt>
  </dgm:ptLst>
  <dgm:cxnLst>
    <dgm:cxn modelId="{D680FC60-D248-4CF1-AD3C-8CC1CC6727AB}" srcId="{F75860A6-DD7C-46E7-B121-88F9E633CDB3}" destId="{FCDBCB59-7A0C-4EFF-A5B2-04122629D4E2}" srcOrd="0" destOrd="0" parTransId="{3FA42B1E-B0B4-407C-8AC1-98ACD28D480B}" sibTransId="{915B1632-7E3B-48FC-954B-6B3DE00E370A}"/>
    <dgm:cxn modelId="{8B8BB36B-A8EC-470F-B5AD-A636D1D4448A}" type="presOf" srcId="{DB94E590-F02F-4EF4-BE6E-0688CF286F96}" destId="{D541F9D7-C9A3-4076-9940-12C2EFE93039}" srcOrd="0" destOrd="0" presId="urn:microsoft.com/office/officeart/2008/layout/LinedList"/>
    <dgm:cxn modelId="{3E130D73-DC01-4867-AB50-037F89A0902D}" srcId="{F75860A6-DD7C-46E7-B121-88F9E633CDB3}" destId="{DC461D29-1A85-4D88-8257-6A2B7142B1E9}" srcOrd="3" destOrd="0" parTransId="{AB8AB25C-C5E9-4BA1-9D09-8241F2FAB103}" sibTransId="{E6AF2C0A-39A3-4118-9787-8A7C5C733222}"/>
    <dgm:cxn modelId="{86FDDD7E-B61F-4EFE-BA67-CC695B40ED40}" type="presOf" srcId="{7D7CCFEA-7C6D-4DF0-AD22-689AEF6136EF}" destId="{53EA447E-6443-4E62-A205-B32F35B42D5A}" srcOrd="0" destOrd="0" presId="urn:microsoft.com/office/officeart/2008/layout/LinedList"/>
    <dgm:cxn modelId="{392EC692-FC54-498F-B0DF-4F7679107427}" type="presOf" srcId="{F75860A6-DD7C-46E7-B121-88F9E633CDB3}" destId="{C7BCC932-7535-49CA-9918-91AD8F345E6A}" srcOrd="0" destOrd="0" presId="urn:microsoft.com/office/officeart/2008/layout/LinedList"/>
    <dgm:cxn modelId="{D84F4599-9CE3-4B19-A611-783A49E4C15D}" type="presOf" srcId="{FCDBCB59-7A0C-4EFF-A5B2-04122629D4E2}" destId="{F6E34017-DDFF-4476-A37D-F66E683C38FF}" srcOrd="0" destOrd="0" presId="urn:microsoft.com/office/officeart/2008/layout/LinedList"/>
    <dgm:cxn modelId="{51E01AB0-FCD4-4B23-BFDB-F96CD56FF7A9}" srcId="{F75860A6-DD7C-46E7-B121-88F9E633CDB3}" destId="{DB94E590-F02F-4EF4-BE6E-0688CF286F96}" srcOrd="1" destOrd="0" parTransId="{88E92D20-C37C-4213-B8FD-7BDFF5312CEE}" sibTransId="{605F0F0B-D4E3-4575-9E17-F9E50E2B18D9}"/>
    <dgm:cxn modelId="{98C9A6C0-502F-4BAD-815E-154231B4EE1D}" type="presOf" srcId="{DC461D29-1A85-4D88-8257-6A2B7142B1E9}" destId="{5FA6A5D9-EF79-47AE-ACCD-963F52E12BEE}" srcOrd="0" destOrd="0" presId="urn:microsoft.com/office/officeart/2008/layout/LinedList"/>
    <dgm:cxn modelId="{F1060DC3-4B78-4340-9485-390E37917B8E}" type="presOf" srcId="{D37C90EC-2982-4869-80E7-7CE5EEEAEB5E}" destId="{98D076BB-F0E9-428A-A2C7-6099D28FF5FC}" srcOrd="0" destOrd="0" presId="urn:microsoft.com/office/officeart/2008/layout/LinedList"/>
    <dgm:cxn modelId="{33165FC6-EE9E-4C3D-BF6E-84E517ECE772}" type="presOf" srcId="{5A6A823A-0656-4259-BD9E-486C13AF8DBF}" destId="{074EFCDF-D946-40F1-B541-803B945B668E}" srcOrd="0" destOrd="0" presId="urn:microsoft.com/office/officeart/2008/layout/LinedList"/>
    <dgm:cxn modelId="{8BD3B7DF-EB9B-4C8A-A909-B05B2BF10146}" srcId="{F75860A6-DD7C-46E7-B121-88F9E633CDB3}" destId="{D37C90EC-2982-4869-80E7-7CE5EEEAEB5E}" srcOrd="4" destOrd="0" parTransId="{DE47CDB2-8085-4CA4-B1BE-D880A34D68C4}" sibTransId="{4BA7E260-515A-4730-ADD5-117F1BEF95F3}"/>
    <dgm:cxn modelId="{862B10E5-36B4-4D17-B989-56CB2694AAD8}" srcId="{F75860A6-DD7C-46E7-B121-88F9E633CDB3}" destId="{7D7CCFEA-7C6D-4DF0-AD22-689AEF6136EF}" srcOrd="2" destOrd="0" parTransId="{A45F7747-5E2B-48BA-9D47-FFEEC3332E50}" sibTransId="{7E03E5CC-2F14-48C9-B61E-96A00C2DFC2A}"/>
    <dgm:cxn modelId="{BA9E9FFD-61CF-46BD-BC41-71DB5B1EF7C1}" srcId="{F75860A6-DD7C-46E7-B121-88F9E633CDB3}" destId="{5A6A823A-0656-4259-BD9E-486C13AF8DBF}" srcOrd="5" destOrd="0" parTransId="{3A61B9DA-7144-4457-902E-9BE463B9590F}" sibTransId="{9C3BF3A2-0BD8-4901-A0BE-0BA595BF3677}"/>
    <dgm:cxn modelId="{E3F4C4EA-1550-40D3-9C65-0CE1C23C5992}" type="presParOf" srcId="{C7BCC932-7535-49CA-9918-91AD8F345E6A}" destId="{B3AB0F07-1012-4035-A34A-449CF9AE0233}" srcOrd="0" destOrd="0" presId="urn:microsoft.com/office/officeart/2008/layout/LinedList"/>
    <dgm:cxn modelId="{63AF6DD6-1D78-4995-A2C2-B4FEA78E609B}" type="presParOf" srcId="{C7BCC932-7535-49CA-9918-91AD8F345E6A}" destId="{1ED07FC5-FB4D-40D5-A6EA-4A652FEAA30F}" srcOrd="1" destOrd="0" presId="urn:microsoft.com/office/officeart/2008/layout/LinedList"/>
    <dgm:cxn modelId="{BE76D4A0-C02E-48C4-99D5-06C72C6D9B3C}" type="presParOf" srcId="{1ED07FC5-FB4D-40D5-A6EA-4A652FEAA30F}" destId="{F6E34017-DDFF-4476-A37D-F66E683C38FF}" srcOrd="0" destOrd="0" presId="urn:microsoft.com/office/officeart/2008/layout/LinedList"/>
    <dgm:cxn modelId="{7EB017EE-E4F1-4CD9-AB2D-DBF3DD38748D}" type="presParOf" srcId="{1ED07FC5-FB4D-40D5-A6EA-4A652FEAA30F}" destId="{6006EA70-FA0F-4A69-B8E9-2F0E319DAFFF}" srcOrd="1" destOrd="0" presId="urn:microsoft.com/office/officeart/2008/layout/LinedList"/>
    <dgm:cxn modelId="{768741C3-BA4A-4044-B679-2F78E224B310}" type="presParOf" srcId="{C7BCC932-7535-49CA-9918-91AD8F345E6A}" destId="{54322ABC-8DE4-4ACB-A15F-E0309EB889F4}" srcOrd="2" destOrd="0" presId="urn:microsoft.com/office/officeart/2008/layout/LinedList"/>
    <dgm:cxn modelId="{8001FD5B-ECEF-4DD2-94B5-78200C0E3079}" type="presParOf" srcId="{C7BCC932-7535-49CA-9918-91AD8F345E6A}" destId="{31F1507F-1F3C-487F-9945-EB2DC5372861}" srcOrd="3" destOrd="0" presId="urn:microsoft.com/office/officeart/2008/layout/LinedList"/>
    <dgm:cxn modelId="{6D4F50E1-604B-4666-A5F4-5E6FADB36DF1}" type="presParOf" srcId="{31F1507F-1F3C-487F-9945-EB2DC5372861}" destId="{D541F9D7-C9A3-4076-9940-12C2EFE93039}" srcOrd="0" destOrd="0" presId="urn:microsoft.com/office/officeart/2008/layout/LinedList"/>
    <dgm:cxn modelId="{446ACF93-67E1-4846-B7E2-A13E5B1E3D86}" type="presParOf" srcId="{31F1507F-1F3C-487F-9945-EB2DC5372861}" destId="{F1CC7AFF-4EBE-4C39-8710-B439EADDB55D}" srcOrd="1" destOrd="0" presId="urn:microsoft.com/office/officeart/2008/layout/LinedList"/>
    <dgm:cxn modelId="{5C3978F8-5ABA-4A34-9A62-2CE1AE9A81D7}" type="presParOf" srcId="{C7BCC932-7535-49CA-9918-91AD8F345E6A}" destId="{2B17E45E-D209-4803-AA06-F69DB740B803}" srcOrd="4" destOrd="0" presId="urn:microsoft.com/office/officeart/2008/layout/LinedList"/>
    <dgm:cxn modelId="{D0BC75FD-0F93-423F-A1AF-201BDB44284B}" type="presParOf" srcId="{C7BCC932-7535-49CA-9918-91AD8F345E6A}" destId="{2020C68F-E5B4-477D-AA24-CCB0A65A928F}" srcOrd="5" destOrd="0" presId="urn:microsoft.com/office/officeart/2008/layout/LinedList"/>
    <dgm:cxn modelId="{53509F96-BF81-4A46-8385-C2E8A3F83B9D}" type="presParOf" srcId="{2020C68F-E5B4-477D-AA24-CCB0A65A928F}" destId="{53EA447E-6443-4E62-A205-B32F35B42D5A}" srcOrd="0" destOrd="0" presId="urn:microsoft.com/office/officeart/2008/layout/LinedList"/>
    <dgm:cxn modelId="{BDE7B685-3AE6-488C-B54E-84F680ECC171}" type="presParOf" srcId="{2020C68F-E5B4-477D-AA24-CCB0A65A928F}" destId="{ECD47FD4-304C-4ED0-9969-B4E5CAC0FD98}" srcOrd="1" destOrd="0" presId="urn:microsoft.com/office/officeart/2008/layout/LinedList"/>
    <dgm:cxn modelId="{85EC777F-FCD8-4ACC-8496-177EEA114023}" type="presParOf" srcId="{C7BCC932-7535-49CA-9918-91AD8F345E6A}" destId="{155703C9-A158-4D95-8206-646D52C6473B}" srcOrd="6" destOrd="0" presId="urn:microsoft.com/office/officeart/2008/layout/LinedList"/>
    <dgm:cxn modelId="{99EBF693-4B7B-44A9-8655-9963B8761A6A}" type="presParOf" srcId="{C7BCC932-7535-49CA-9918-91AD8F345E6A}" destId="{36DF0BEC-9D0B-4D90-B9F4-21D44F3BD210}" srcOrd="7" destOrd="0" presId="urn:microsoft.com/office/officeart/2008/layout/LinedList"/>
    <dgm:cxn modelId="{B843620E-F7DC-4D52-972D-4381389EF88C}" type="presParOf" srcId="{36DF0BEC-9D0B-4D90-B9F4-21D44F3BD210}" destId="{5FA6A5D9-EF79-47AE-ACCD-963F52E12BEE}" srcOrd="0" destOrd="0" presId="urn:microsoft.com/office/officeart/2008/layout/LinedList"/>
    <dgm:cxn modelId="{76E6DDD2-6369-47F1-AB25-E6EF26009783}" type="presParOf" srcId="{36DF0BEC-9D0B-4D90-B9F4-21D44F3BD210}" destId="{8D2C9D64-CABF-4BF0-89EE-D5A11F1720D3}" srcOrd="1" destOrd="0" presId="urn:microsoft.com/office/officeart/2008/layout/LinedList"/>
    <dgm:cxn modelId="{759D859C-CC55-4A93-AE87-E8A01E20E5C8}" type="presParOf" srcId="{C7BCC932-7535-49CA-9918-91AD8F345E6A}" destId="{5C93AF6D-5FDD-40DD-B0A8-DF5D15D77232}" srcOrd="8" destOrd="0" presId="urn:microsoft.com/office/officeart/2008/layout/LinedList"/>
    <dgm:cxn modelId="{E9C48A2B-15DA-48E4-B226-0AD9B14E9CDA}" type="presParOf" srcId="{C7BCC932-7535-49CA-9918-91AD8F345E6A}" destId="{62698378-6598-410B-A057-2FFB7BA10AE1}" srcOrd="9" destOrd="0" presId="urn:microsoft.com/office/officeart/2008/layout/LinedList"/>
    <dgm:cxn modelId="{7FF5D1BB-BC33-4537-A5F6-91ACA55C3885}" type="presParOf" srcId="{62698378-6598-410B-A057-2FFB7BA10AE1}" destId="{98D076BB-F0E9-428A-A2C7-6099D28FF5FC}" srcOrd="0" destOrd="0" presId="urn:microsoft.com/office/officeart/2008/layout/LinedList"/>
    <dgm:cxn modelId="{0437846E-1EED-42C3-B96E-E48BE6215BDA}" type="presParOf" srcId="{62698378-6598-410B-A057-2FFB7BA10AE1}" destId="{B5D5D0C0-A129-4EA1-920E-6FBC4D4E66EC}" srcOrd="1" destOrd="0" presId="urn:microsoft.com/office/officeart/2008/layout/LinedList"/>
    <dgm:cxn modelId="{835D22C4-601D-462B-B225-0E8BEB2542C2}" type="presParOf" srcId="{C7BCC932-7535-49CA-9918-91AD8F345E6A}" destId="{36FB7C3F-5DC6-4FFA-9085-079467A32EB4}" srcOrd="10" destOrd="0" presId="urn:microsoft.com/office/officeart/2008/layout/LinedList"/>
    <dgm:cxn modelId="{609D7C89-8F37-4A4D-9677-7FF2CD90ED63}" type="presParOf" srcId="{C7BCC932-7535-49CA-9918-91AD8F345E6A}" destId="{7BF8BA37-EC50-4DCC-9DF0-ED6E6080683F}" srcOrd="11" destOrd="0" presId="urn:microsoft.com/office/officeart/2008/layout/LinedList"/>
    <dgm:cxn modelId="{E3CB2B3A-C52E-4A8F-A7D3-D2DC346199A9}" type="presParOf" srcId="{7BF8BA37-EC50-4DCC-9DF0-ED6E6080683F}" destId="{074EFCDF-D946-40F1-B541-803B945B668E}" srcOrd="0" destOrd="0" presId="urn:microsoft.com/office/officeart/2008/layout/LinedList"/>
    <dgm:cxn modelId="{6AE08922-65D1-414E-BA6E-18AB0E7631AB}" type="presParOf" srcId="{7BF8BA37-EC50-4DCC-9DF0-ED6E6080683F}" destId="{4498434F-EAB9-4BE8-8758-A0D926E5303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BFD6907-7BBD-42B7-8B86-0D6558A792BE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E7CAC64-7D58-4C65-8751-1B89625B49B1}">
      <dgm:prSet/>
      <dgm:spPr/>
      <dgm:t>
        <a:bodyPr/>
        <a:lstStyle/>
        <a:p>
          <a:r>
            <a:rPr lang="en-US" dirty="0"/>
            <a:t>Built automated system to analyze genetic data and understand metabolic functions</a:t>
          </a:r>
        </a:p>
      </dgm:t>
    </dgm:pt>
    <dgm:pt modelId="{0290E92C-1A3E-4202-8E5F-2CF62E553499}" type="parTrans" cxnId="{ED562193-D96D-471B-84B9-1F07B333F616}">
      <dgm:prSet/>
      <dgm:spPr/>
      <dgm:t>
        <a:bodyPr/>
        <a:lstStyle/>
        <a:p>
          <a:endParaRPr lang="en-US"/>
        </a:p>
      </dgm:t>
    </dgm:pt>
    <dgm:pt modelId="{4C486774-31E5-4274-A948-C41ADA2CCD95}" type="sibTrans" cxnId="{ED562193-D96D-471B-84B9-1F07B333F616}">
      <dgm:prSet/>
      <dgm:spPr/>
      <dgm:t>
        <a:bodyPr/>
        <a:lstStyle/>
        <a:p>
          <a:endParaRPr lang="en-US"/>
        </a:p>
      </dgm:t>
    </dgm:pt>
    <dgm:pt modelId="{BFEEEF35-D983-4040-BEAF-22711D0A1EE0}">
      <dgm:prSet/>
      <dgm:spPr/>
      <dgm:t>
        <a:bodyPr/>
        <a:lstStyle/>
        <a:p>
          <a:r>
            <a:rPr lang="en-US" dirty="0"/>
            <a:t>Identified which enzymes are present in the organism's genome</a:t>
          </a:r>
        </a:p>
      </dgm:t>
    </dgm:pt>
    <dgm:pt modelId="{A8BC3E37-1557-4B97-ACC6-1423DCD92AF8}" type="parTrans" cxnId="{7967B70A-975E-4667-9E8B-6F1BE3CE7ACB}">
      <dgm:prSet/>
      <dgm:spPr/>
      <dgm:t>
        <a:bodyPr/>
        <a:lstStyle/>
        <a:p>
          <a:endParaRPr lang="en-US"/>
        </a:p>
      </dgm:t>
    </dgm:pt>
    <dgm:pt modelId="{FF691568-C7B1-4760-8569-62881DBD9F20}" type="sibTrans" cxnId="{7967B70A-975E-4667-9E8B-6F1BE3CE7ACB}">
      <dgm:prSet/>
      <dgm:spPr/>
      <dgm:t>
        <a:bodyPr/>
        <a:lstStyle/>
        <a:p>
          <a:endParaRPr lang="en-US"/>
        </a:p>
      </dgm:t>
    </dgm:pt>
    <dgm:pt modelId="{74D94872-FE0F-4A9F-ABF2-E9A7D3960A19}">
      <dgm:prSet/>
      <dgm:spPr/>
      <dgm:t>
        <a:bodyPr/>
        <a:lstStyle/>
        <a:p>
          <a:r>
            <a:rPr lang="en-US" dirty="0"/>
            <a:t>Mapped genes to biochemical pathways showing what the organism can do</a:t>
          </a:r>
        </a:p>
      </dgm:t>
    </dgm:pt>
    <dgm:pt modelId="{01389EAF-93F4-4222-8C24-7B94B6AA2BD5}" type="parTrans" cxnId="{061FF358-865E-436B-A3EB-F553EE212A0E}">
      <dgm:prSet/>
      <dgm:spPr/>
      <dgm:t>
        <a:bodyPr/>
        <a:lstStyle/>
        <a:p>
          <a:endParaRPr lang="en-US"/>
        </a:p>
      </dgm:t>
    </dgm:pt>
    <dgm:pt modelId="{FA48E0D0-F51F-4BE3-8829-1A10F812FCFD}" type="sibTrans" cxnId="{061FF358-865E-436B-A3EB-F553EE212A0E}">
      <dgm:prSet/>
      <dgm:spPr/>
      <dgm:t>
        <a:bodyPr/>
        <a:lstStyle/>
        <a:p>
          <a:endParaRPr lang="en-US"/>
        </a:p>
      </dgm:t>
    </dgm:pt>
    <dgm:pt modelId="{AF11FF7D-5B35-4C11-AB85-7FEFB57B80AA}">
      <dgm:prSet/>
      <dgm:spPr/>
      <dgm:t>
        <a:bodyPr/>
        <a:lstStyle/>
        <a:p>
          <a:r>
            <a:rPr lang="en-US" dirty="0"/>
            <a:t>Revealed complete and missing metabolic capabilities</a:t>
          </a:r>
        </a:p>
      </dgm:t>
    </dgm:pt>
    <dgm:pt modelId="{C080F64A-2C3F-4CE1-92CA-28528B963EEC}" type="parTrans" cxnId="{B5C1AD66-8F63-40A8-A2FB-332005AFEEAC}">
      <dgm:prSet/>
      <dgm:spPr/>
      <dgm:t>
        <a:bodyPr/>
        <a:lstStyle/>
        <a:p>
          <a:endParaRPr lang="en-US"/>
        </a:p>
      </dgm:t>
    </dgm:pt>
    <dgm:pt modelId="{293539C2-5EC2-460B-891E-FE0C22A5879E}" type="sibTrans" cxnId="{B5C1AD66-8F63-40A8-A2FB-332005AFEEAC}">
      <dgm:prSet/>
      <dgm:spPr/>
      <dgm:t>
        <a:bodyPr/>
        <a:lstStyle/>
        <a:p>
          <a:endParaRPr lang="en-US"/>
        </a:p>
      </dgm:t>
    </dgm:pt>
    <dgm:pt modelId="{4FCF381D-F73C-422A-A262-3D37B1E956C2}">
      <dgm:prSet/>
      <dgm:spPr/>
      <dgm:t>
        <a:bodyPr/>
        <a:lstStyle/>
        <a:p>
          <a:r>
            <a:rPr lang="en-US" dirty="0"/>
            <a:t>Helps understand organism's role in nature and evolution</a:t>
          </a:r>
        </a:p>
      </dgm:t>
    </dgm:pt>
    <dgm:pt modelId="{9473FF23-D930-4C4C-96D7-CFD99DD55FCE}" type="parTrans" cxnId="{13A1F908-8D9D-482B-B115-95319530B030}">
      <dgm:prSet/>
      <dgm:spPr/>
      <dgm:t>
        <a:bodyPr/>
        <a:lstStyle/>
        <a:p>
          <a:endParaRPr lang="en-US"/>
        </a:p>
      </dgm:t>
    </dgm:pt>
    <dgm:pt modelId="{EC043241-0468-4943-B7C0-57A93E72A9AD}" type="sibTrans" cxnId="{13A1F908-8D9D-482B-B115-95319530B030}">
      <dgm:prSet/>
      <dgm:spPr/>
      <dgm:t>
        <a:bodyPr/>
        <a:lstStyle/>
        <a:p>
          <a:endParaRPr lang="en-US"/>
        </a:p>
      </dgm:t>
    </dgm:pt>
    <dgm:pt modelId="{09A80F81-BE9F-4494-95BF-BED78B821055}">
      <dgm:prSet/>
      <dgm:spPr/>
      <dgm:t>
        <a:bodyPr/>
        <a:lstStyle/>
        <a:p>
          <a:r>
            <a:rPr lang="en-US" dirty="0"/>
            <a:t>Useful for </a:t>
          </a:r>
          <a:r>
            <a:rPr lang="en-US" dirty="0">
              <a:latin typeface="Aptos Display" panose="020F0302020204030204"/>
            </a:rPr>
            <a:t>Biotechnology</a:t>
          </a:r>
          <a:r>
            <a:rPr lang="en-US" dirty="0"/>
            <a:t>, </a:t>
          </a:r>
          <a:r>
            <a:rPr lang="en-US" dirty="0">
              <a:latin typeface="Aptos Display" panose="020F0302020204030204"/>
            </a:rPr>
            <a:t>Medicine</a:t>
          </a:r>
          <a:r>
            <a:rPr lang="en-US" dirty="0"/>
            <a:t>, and </a:t>
          </a:r>
          <a:r>
            <a:rPr lang="en-US" dirty="0">
              <a:latin typeface="Aptos Display" panose="020F0302020204030204"/>
            </a:rPr>
            <a:t>Drug</a:t>
          </a:r>
          <a:r>
            <a:rPr lang="en-US" dirty="0"/>
            <a:t> </a:t>
          </a:r>
          <a:r>
            <a:rPr lang="en-US" dirty="0">
              <a:latin typeface="Aptos Display" panose="020F0302020204030204"/>
            </a:rPr>
            <a:t>Discovery</a:t>
          </a:r>
          <a:endParaRPr lang="en-US" dirty="0"/>
        </a:p>
      </dgm:t>
    </dgm:pt>
    <dgm:pt modelId="{EE70D658-5349-4E18-AF0F-718215539F7E}" type="parTrans" cxnId="{D72878A2-67DA-497D-BA29-778B335910DE}">
      <dgm:prSet/>
      <dgm:spPr/>
      <dgm:t>
        <a:bodyPr/>
        <a:lstStyle/>
        <a:p>
          <a:endParaRPr lang="en-US"/>
        </a:p>
      </dgm:t>
    </dgm:pt>
    <dgm:pt modelId="{081DFDB1-F3AA-432A-915B-5C18DFD16A64}" type="sibTrans" cxnId="{D72878A2-67DA-497D-BA29-778B335910DE}">
      <dgm:prSet/>
      <dgm:spPr/>
      <dgm:t>
        <a:bodyPr/>
        <a:lstStyle/>
        <a:p>
          <a:endParaRPr lang="en-US"/>
        </a:p>
      </dgm:t>
    </dgm:pt>
    <dgm:pt modelId="{2720B4DD-9C1A-4326-9A8E-646DEA00AC0B}">
      <dgm:prSet/>
      <dgm:spPr/>
      <dgm:t>
        <a:bodyPr/>
        <a:lstStyle/>
        <a:p>
          <a:r>
            <a:rPr lang="en-US" dirty="0"/>
            <a:t>Works for any organism - bacteria, plants, or animals</a:t>
          </a:r>
        </a:p>
      </dgm:t>
    </dgm:pt>
    <dgm:pt modelId="{698DB8E8-BCD6-4772-B8DA-DCE262D17186}" type="parTrans" cxnId="{27F04F80-76F7-44A8-B8FE-45739911C0CC}">
      <dgm:prSet/>
      <dgm:spPr/>
      <dgm:t>
        <a:bodyPr/>
        <a:lstStyle/>
        <a:p>
          <a:endParaRPr lang="en-US"/>
        </a:p>
      </dgm:t>
    </dgm:pt>
    <dgm:pt modelId="{2A72971C-47CF-420F-A66C-405DEABA7BCD}" type="sibTrans" cxnId="{27F04F80-76F7-44A8-B8FE-45739911C0CC}">
      <dgm:prSet/>
      <dgm:spPr/>
      <dgm:t>
        <a:bodyPr/>
        <a:lstStyle/>
        <a:p>
          <a:endParaRPr lang="en-US"/>
        </a:p>
      </dgm:t>
    </dgm:pt>
    <dgm:pt modelId="{FAAA4D07-E552-49B5-B14A-A65FE2F91204}">
      <dgm:prSet/>
      <dgm:spPr/>
      <dgm:t>
        <a:bodyPr/>
        <a:lstStyle/>
        <a:p>
          <a:r>
            <a:rPr lang="en-US" dirty="0"/>
            <a:t>Combines multiple software tools into one efficient workflow</a:t>
          </a:r>
        </a:p>
      </dgm:t>
    </dgm:pt>
    <dgm:pt modelId="{A098BE14-0523-4F31-B3B8-01F37B0C66B4}" type="parTrans" cxnId="{4E441831-DB2B-46C8-86E4-C5DC31AA85D0}">
      <dgm:prSet/>
      <dgm:spPr/>
      <dgm:t>
        <a:bodyPr/>
        <a:lstStyle/>
        <a:p>
          <a:endParaRPr lang="en-US"/>
        </a:p>
      </dgm:t>
    </dgm:pt>
    <dgm:pt modelId="{E3BFBA79-9DA2-4771-A246-B70C1F9F7380}" type="sibTrans" cxnId="{4E441831-DB2B-46C8-86E4-C5DC31AA85D0}">
      <dgm:prSet/>
      <dgm:spPr/>
      <dgm:t>
        <a:bodyPr/>
        <a:lstStyle/>
        <a:p>
          <a:endParaRPr lang="en-US"/>
        </a:p>
      </dgm:t>
    </dgm:pt>
    <dgm:pt modelId="{62F57785-17FC-4D43-AD6F-C610FE586226}" type="pres">
      <dgm:prSet presAssocID="{6BFD6907-7BBD-42B7-8B86-0D6558A792BE}" presName="vert0" presStyleCnt="0">
        <dgm:presLayoutVars>
          <dgm:dir/>
          <dgm:animOne val="branch"/>
          <dgm:animLvl val="lvl"/>
        </dgm:presLayoutVars>
      </dgm:prSet>
      <dgm:spPr/>
    </dgm:pt>
    <dgm:pt modelId="{4FF65D64-B0BA-4A7B-BDC2-0BA98E9992DF}" type="pres">
      <dgm:prSet presAssocID="{8E7CAC64-7D58-4C65-8751-1B89625B49B1}" presName="thickLine" presStyleLbl="alignNode1" presStyleIdx="0" presStyleCnt="8"/>
      <dgm:spPr/>
    </dgm:pt>
    <dgm:pt modelId="{14DED693-237A-4349-90A4-CD56CFC13EFF}" type="pres">
      <dgm:prSet presAssocID="{8E7CAC64-7D58-4C65-8751-1B89625B49B1}" presName="horz1" presStyleCnt="0"/>
      <dgm:spPr/>
    </dgm:pt>
    <dgm:pt modelId="{E8D94F3A-1243-43D4-922E-4D4EAFF72B7D}" type="pres">
      <dgm:prSet presAssocID="{8E7CAC64-7D58-4C65-8751-1B89625B49B1}" presName="tx1" presStyleLbl="revTx" presStyleIdx="0" presStyleCnt="8"/>
      <dgm:spPr/>
    </dgm:pt>
    <dgm:pt modelId="{CC4D4DD3-E82F-4188-AD14-2367065BFB22}" type="pres">
      <dgm:prSet presAssocID="{8E7CAC64-7D58-4C65-8751-1B89625B49B1}" presName="vert1" presStyleCnt="0"/>
      <dgm:spPr/>
    </dgm:pt>
    <dgm:pt modelId="{C23064F6-141F-426C-AB59-B2CD5381041A}" type="pres">
      <dgm:prSet presAssocID="{BFEEEF35-D983-4040-BEAF-22711D0A1EE0}" presName="thickLine" presStyleLbl="alignNode1" presStyleIdx="1" presStyleCnt="8"/>
      <dgm:spPr/>
    </dgm:pt>
    <dgm:pt modelId="{EA4A3FEC-28E7-4280-9D53-9E7406B1BF09}" type="pres">
      <dgm:prSet presAssocID="{BFEEEF35-D983-4040-BEAF-22711D0A1EE0}" presName="horz1" presStyleCnt="0"/>
      <dgm:spPr/>
    </dgm:pt>
    <dgm:pt modelId="{92CFC261-B7BC-4073-B764-9EB1866E561D}" type="pres">
      <dgm:prSet presAssocID="{BFEEEF35-D983-4040-BEAF-22711D0A1EE0}" presName="tx1" presStyleLbl="revTx" presStyleIdx="1" presStyleCnt="8"/>
      <dgm:spPr/>
    </dgm:pt>
    <dgm:pt modelId="{EFEDD2BB-BF4A-4300-B113-9E044B52F717}" type="pres">
      <dgm:prSet presAssocID="{BFEEEF35-D983-4040-BEAF-22711D0A1EE0}" presName="vert1" presStyleCnt="0"/>
      <dgm:spPr/>
    </dgm:pt>
    <dgm:pt modelId="{1F78A208-A964-4F71-9C56-0ED0A6777211}" type="pres">
      <dgm:prSet presAssocID="{74D94872-FE0F-4A9F-ABF2-E9A7D3960A19}" presName="thickLine" presStyleLbl="alignNode1" presStyleIdx="2" presStyleCnt="8"/>
      <dgm:spPr/>
    </dgm:pt>
    <dgm:pt modelId="{FF10A19F-5EBE-4D8A-91A7-B25DEAC2444C}" type="pres">
      <dgm:prSet presAssocID="{74D94872-FE0F-4A9F-ABF2-E9A7D3960A19}" presName="horz1" presStyleCnt="0"/>
      <dgm:spPr/>
    </dgm:pt>
    <dgm:pt modelId="{6B5526BC-68B4-43FE-8AE9-ABA63092B597}" type="pres">
      <dgm:prSet presAssocID="{74D94872-FE0F-4A9F-ABF2-E9A7D3960A19}" presName="tx1" presStyleLbl="revTx" presStyleIdx="2" presStyleCnt="8"/>
      <dgm:spPr/>
    </dgm:pt>
    <dgm:pt modelId="{BC288689-5625-4E7E-A755-4E3F1EB9559C}" type="pres">
      <dgm:prSet presAssocID="{74D94872-FE0F-4A9F-ABF2-E9A7D3960A19}" presName="vert1" presStyleCnt="0"/>
      <dgm:spPr/>
    </dgm:pt>
    <dgm:pt modelId="{F5F8B5BD-C5B9-41C3-8BA8-BEA660F42BDA}" type="pres">
      <dgm:prSet presAssocID="{AF11FF7D-5B35-4C11-AB85-7FEFB57B80AA}" presName="thickLine" presStyleLbl="alignNode1" presStyleIdx="3" presStyleCnt="8"/>
      <dgm:spPr/>
    </dgm:pt>
    <dgm:pt modelId="{4E8094EA-4B8E-4317-B0A0-B8A159F7C6AF}" type="pres">
      <dgm:prSet presAssocID="{AF11FF7D-5B35-4C11-AB85-7FEFB57B80AA}" presName="horz1" presStyleCnt="0"/>
      <dgm:spPr/>
    </dgm:pt>
    <dgm:pt modelId="{494532B2-A24C-4DD8-B18E-2691071FE3AD}" type="pres">
      <dgm:prSet presAssocID="{AF11FF7D-5B35-4C11-AB85-7FEFB57B80AA}" presName="tx1" presStyleLbl="revTx" presStyleIdx="3" presStyleCnt="8"/>
      <dgm:spPr/>
    </dgm:pt>
    <dgm:pt modelId="{A318EA59-E791-4081-A076-1AE0CD61FA5D}" type="pres">
      <dgm:prSet presAssocID="{AF11FF7D-5B35-4C11-AB85-7FEFB57B80AA}" presName="vert1" presStyleCnt="0"/>
      <dgm:spPr/>
    </dgm:pt>
    <dgm:pt modelId="{56E52380-857A-497C-B6E3-E0BEDBFF54DB}" type="pres">
      <dgm:prSet presAssocID="{4FCF381D-F73C-422A-A262-3D37B1E956C2}" presName="thickLine" presStyleLbl="alignNode1" presStyleIdx="4" presStyleCnt="8"/>
      <dgm:spPr/>
    </dgm:pt>
    <dgm:pt modelId="{658F38A8-8989-4594-B291-A26CB05EB0F0}" type="pres">
      <dgm:prSet presAssocID="{4FCF381D-F73C-422A-A262-3D37B1E956C2}" presName="horz1" presStyleCnt="0"/>
      <dgm:spPr/>
    </dgm:pt>
    <dgm:pt modelId="{8638D352-F74E-40EA-B17F-1E5DBB9F9105}" type="pres">
      <dgm:prSet presAssocID="{4FCF381D-F73C-422A-A262-3D37B1E956C2}" presName="tx1" presStyleLbl="revTx" presStyleIdx="4" presStyleCnt="8"/>
      <dgm:spPr/>
    </dgm:pt>
    <dgm:pt modelId="{D4C364F4-1BF7-4E9B-8921-16A6821FD7EE}" type="pres">
      <dgm:prSet presAssocID="{4FCF381D-F73C-422A-A262-3D37B1E956C2}" presName="vert1" presStyleCnt="0"/>
      <dgm:spPr/>
    </dgm:pt>
    <dgm:pt modelId="{0F9F3D00-4C3C-4C97-BFBD-2175548289D0}" type="pres">
      <dgm:prSet presAssocID="{09A80F81-BE9F-4494-95BF-BED78B821055}" presName="thickLine" presStyleLbl="alignNode1" presStyleIdx="5" presStyleCnt="8"/>
      <dgm:spPr/>
    </dgm:pt>
    <dgm:pt modelId="{AD982A17-04AE-465D-85B3-A4167F86BD47}" type="pres">
      <dgm:prSet presAssocID="{09A80F81-BE9F-4494-95BF-BED78B821055}" presName="horz1" presStyleCnt="0"/>
      <dgm:spPr/>
    </dgm:pt>
    <dgm:pt modelId="{40F35E6C-56E1-4C14-AFB5-F7E2D61977A8}" type="pres">
      <dgm:prSet presAssocID="{09A80F81-BE9F-4494-95BF-BED78B821055}" presName="tx1" presStyleLbl="revTx" presStyleIdx="5" presStyleCnt="8"/>
      <dgm:spPr/>
    </dgm:pt>
    <dgm:pt modelId="{00516783-32E5-42B3-8831-2696B1EA425B}" type="pres">
      <dgm:prSet presAssocID="{09A80F81-BE9F-4494-95BF-BED78B821055}" presName="vert1" presStyleCnt="0"/>
      <dgm:spPr/>
    </dgm:pt>
    <dgm:pt modelId="{A487C648-371E-4BD6-B238-2BC003FC3FD1}" type="pres">
      <dgm:prSet presAssocID="{2720B4DD-9C1A-4326-9A8E-646DEA00AC0B}" presName="thickLine" presStyleLbl="alignNode1" presStyleIdx="6" presStyleCnt="8"/>
      <dgm:spPr/>
    </dgm:pt>
    <dgm:pt modelId="{54E02667-3D75-43C7-BBAB-54890102E019}" type="pres">
      <dgm:prSet presAssocID="{2720B4DD-9C1A-4326-9A8E-646DEA00AC0B}" presName="horz1" presStyleCnt="0"/>
      <dgm:spPr/>
    </dgm:pt>
    <dgm:pt modelId="{59293F2B-4ADC-4DE0-AC10-B3955CFF4B0F}" type="pres">
      <dgm:prSet presAssocID="{2720B4DD-9C1A-4326-9A8E-646DEA00AC0B}" presName="tx1" presStyleLbl="revTx" presStyleIdx="6" presStyleCnt="8"/>
      <dgm:spPr/>
    </dgm:pt>
    <dgm:pt modelId="{694EA687-B865-4195-87BD-894C9D47AF3C}" type="pres">
      <dgm:prSet presAssocID="{2720B4DD-9C1A-4326-9A8E-646DEA00AC0B}" presName="vert1" presStyleCnt="0"/>
      <dgm:spPr/>
    </dgm:pt>
    <dgm:pt modelId="{C473B965-5B0F-4E96-8127-3E81B1FC9DA6}" type="pres">
      <dgm:prSet presAssocID="{FAAA4D07-E552-49B5-B14A-A65FE2F91204}" presName="thickLine" presStyleLbl="alignNode1" presStyleIdx="7" presStyleCnt="8"/>
      <dgm:spPr/>
    </dgm:pt>
    <dgm:pt modelId="{FDA7B581-37E7-4A48-A4EB-6CCB85BA3C39}" type="pres">
      <dgm:prSet presAssocID="{FAAA4D07-E552-49B5-B14A-A65FE2F91204}" presName="horz1" presStyleCnt="0"/>
      <dgm:spPr/>
    </dgm:pt>
    <dgm:pt modelId="{4631FEC5-E127-4BEA-B78B-1CDDFC6EB86F}" type="pres">
      <dgm:prSet presAssocID="{FAAA4D07-E552-49B5-B14A-A65FE2F91204}" presName="tx1" presStyleLbl="revTx" presStyleIdx="7" presStyleCnt="8"/>
      <dgm:spPr/>
    </dgm:pt>
    <dgm:pt modelId="{9E1EB63D-15FB-4E55-A665-1B87A3F047FE}" type="pres">
      <dgm:prSet presAssocID="{FAAA4D07-E552-49B5-B14A-A65FE2F91204}" presName="vert1" presStyleCnt="0"/>
      <dgm:spPr/>
    </dgm:pt>
  </dgm:ptLst>
  <dgm:cxnLst>
    <dgm:cxn modelId="{13A1F908-8D9D-482B-B115-95319530B030}" srcId="{6BFD6907-7BBD-42B7-8B86-0D6558A792BE}" destId="{4FCF381D-F73C-422A-A262-3D37B1E956C2}" srcOrd="4" destOrd="0" parTransId="{9473FF23-D930-4C4C-96D7-CFD99DD55FCE}" sibTransId="{EC043241-0468-4943-B7C0-57A93E72A9AD}"/>
    <dgm:cxn modelId="{7967B70A-975E-4667-9E8B-6F1BE3CE7ACB}" srcId="{6BFD6907-7BBD-42B7-8B86-0D6558A792BE}" destId="{BFEEEF35-D983-4040-BEAF-22711D0A1EE0}" srcOrd="1" destOrd="0" parTransId="{A8BC3E37-1557-4B97-ACC6-1423DCD92AF8}" sibTransId="{FF691568-C7B1-4760-8569-62881DBD9F20}"/>
    <dgm:cxn modelId="{35B77E0F-332D-4019-973B-F9A38FAA2EDF}" type="presOf" srcId="{2720B4DD-9C1A-4326-9A8E-646DEA00AC0B}" destId="{59293F2B-4ADC-4DE0-AC10-B3955CFF4B0F}" srcOrd="0" destOrd="0" presId="urn:microsoft.com/office/officeart/2008/layout/LinedList"/>
    <dgm:cxn modelId="{ECEC2C2E-F826-4DD9-9004-73C32F755D96}" type="presOf" srcId="{09A80F81-BE9F-4494-95BF-BED78B821055}" destId="{40F35E6C-56E1-4C14-AFB5-F7E2D61977A8}" srcOrd="0" destOrd="0" presId="urn:microsoft.com/office/officeart/2008/layout/LinedList"/>
    <dgm:cxn modelId="{4E441831-DB2B-46C8-86E4-C5DC31AA85D0}" srcId="{6BFD6907-7BBD-42B7-8B86-0D6558A792BE}" destId="{FAAA4D07-E552-49B5-B14A-A65FE2F91204}" srcOrd="7" destOrd="0" parTransId="{A098BE14-0523-4F31-B3B8-01F37B0C66B4}" sibTransId="{E3BFBA79-9DA2-4771-A246-B70C1F9F7380}"/>
    <dgm:cxn modelId="{8A26F05B-614B-40CF-9811-1780BE07B04F}" type="presOf" srcId="{74D94872-FE0F-4A9F-ABF2-E9A7D3960A19}" destId="{6B5526BC-68B4-43FE-8AE9-ABA63092B597}" srcOrd="0" destOrd="0" presId="urn:microsoft.com/office/officeart/2008/layout/LinedList"/>
    <dgm:cxn modelId="{19E66160-D555-4B8A-8625-2A320E248542}" type="presOf" srcId="{4FCF381D-F73C-422A-A262-3D37B1E956C2}" destId="{8638D352-F74E-40EA-B17F-1E5DBB9F9105}" srcOrd="0" destOrd="0" presId="urn:microsoft.com/office/officeart/2008/layout/LinedList"/>
    <dgm:cxn modelId="{84587A62-1BEE-4F8F-8D2E-520CDB0D7595}" type="presOf" srcId="{8E7CAC64-7D58-4C65-8751-1B89625B49B1}" destId="{E8D94F3A-1243-43D4-922E-4D4EAFF72B7D}" srcOrd="0" destOrd="0" presId="urn:microsoft.com/office/officeart/2008/layout/LinedList"/>
    <dgm:cxn modelId="{25F0F544-BE58-4C5C-B750-DAC8288ED750}" type="presOf" srcId="{AF11FF7D-5B35-4C11-AB85-7FEFB57B80AA}" destId="{494532B2-A24C-4DD8-B18E-2691071FE3AD}" srcOrd="0" destOrd="0" presId="urn:microsoft.com/office/officeart/2008/layout/LinedList"/>
    <dgm:cxn modelId="{B5C1AD66-8F63-40A8-A2FB-332005AFEEAC}" srcId="{6BFD6907-7BBD-42B7-8B86-0D6558A792BE}" destId="{AF11FF7D-5B35-4C11-AB85-7FEFB57B80AA}" srcOrd="3" destOrd="0" parTransId="{C080F64A-2C3F-4CE1-92CA-28528B963EEC}" sibTransId="{293539C2-5EC2-460B-891E-FE0C22A5879E}"/>
    <dgm:cxn modelId="{66F4D376-16BB-4E97-B85D-CCEBBBD4AD25}" type="presOf" srcId="{6BFD6907-7BBD-42B7-8B86-0D6558A792BE}" destId="{62F57785-17FC-4D43-AD6F-C610FE586226}" srcOrd="0" destOrd="0" presId="urn:microsoft.com/office/officeart/2008/layout/LinedList"/>
    <dgm:cxn modelId="{061FF358-865E-436B-A3EB-F553EE212A0E}" srcId="{6BFD6907-7BBD-42B7-8B86-0D6558A792BE}" destId="{74D94872-FE0F-4A9F-ABF2-E9A7D3960A19}" srcOrd="2" destOrd="0" parTransId="{01389EAF-93F4-4222-8C24-7B94B6AA2BD5}" sibTransId="{FA48E0D0-F51F-4BE3-8829-1A10F812FCFD}"/>
    <dgm:cxn modelId="{27F04F80-76F7-44A8-B8FE-45739911C0CC}" srcId="{6BFD6907-7BBD-42B7-8B86-0D6558A792BE}" destId="{2720B4DD-9C1A-4326-9A8E-646DEA00AC0B}" srcOrd="6" destOrd="0" parTransId="{698DB8E8-BCD6-4772-B8DA-DCE262D17186}" sibTransId="{2A72971C-47CF-420F-A66C-405DEABA7BCD}"/>
    <dgm:cxn modelId="{ED562193-D96D-471B-84B9-1F07B333F616}" srcId="{6BFD6907-7BBD-42B7-8B86-0D6558A792BE}" destId="{8E7CAC64-7D58-4C65-8751-1B89625B49B1}" srcOrd="0" destOrd="0" parTransId="{0290E92C-1A3E-4202-8E5F-2CF62E553499}" sibTransId="{4C486774-31E5-4274-A948-C41ADA2CCD95}"/>
    <dgm:cxn modelId="{AE5AD9A1-6BAA-45E5-A335-E3021DDDD2D2}" type="presOf" srcId="{BFEEEF35-D983-4040-BEAF-22711D0A1EE0}" destId="{92CFC261-B7BC-4073-B764-9EB1866E561D}" srcOrd="0" destOrd="0" presId="urn:microsoft.com/office/officeart/2008/layout/LinedList"/>
    <dgm:cxn modelId="{D72878A2-67DA-497D-BA29-778B335910DE}" srcId="{6BFD6907-7BBD-42B7-8B86-0D6558A792BE}" destId="{09A80F81-BE9F-4494-95BF-BED78B821055}" srcOrd="5" destOrd="0" parTransId="{EE70D658-5349-4E18-AF0F-718215539F7E}" sibTransId="{081DFDB1-F3AA-432A-915B-5C18DFD16A64}"/>
    <dgm:cxn modelId="{64DE77D0-456F-4DF8-A22E-7FBA48C89055}" type="presOf" srcId="{FAAA4D07-E552-49B5-B14A-A65FE2F91204}" destId="{4631FEC5-E127-4BEA-B78B-1CDDFC6EB86F}" srcOrd="0" destOrd="0" presId="urn:microsoft.com/office/officeart/2008/layout/LinedList"/>
    <dgm:cxn modelId="{4B7D941B-54E2-46C9-B8A2-51A84743B0A0}" type="presParOf" srcId="{62F57785-17FC-4D43-AD6F-C610FE586226}" destId="{4FF65D64-B0BA-4A7B-BDC2-0BA98E9992DF}" srcOrd="0" destOrd="0" presId="urn:microsoft.com/office/officeart/2008/layout/LinedList"/>
    <dgm:cxn modelId="{E5A72B17-2B0A-4AC1-A7A0-EC305062EEA3}" type="presParOf" srcId="{62F57785-17FC-4D43-AD6F-C610FE586226}" destId="{14DED693-237A-4349-90A4-CD56CFC13EFF}" srcOrd="1" destOrd="0" presId="urn:microsoft.com/office/officeart/2008/layout/LinedList"/>
    <dgm:cxn modelId="{A070A98E-0615-4B99-AFD3-75D3F2FC8138}" type="presParOf" srcId="{14DED693-237A-4349-90A4-CD56CFC13EFF}" destId="{E8D94F3A-1243-43D4-922E-4D4EAFF72B7D}" srcOrd="0" destOrd="0" presId="urn:microsoft.com/office/officeart/2008/layout/LinedList"/>
    <dgm:cxn modelId="{4F945AB8-0520-4DED-AF74-C5C26B269607}" type="presParOf" srcId="{14DED693-237A-4349-90A4-CD56CFC13EFF}" destId="{CC4D4DD3-E82F-4188-AD14-2367065BFB22}" srcOrd="1" destOrd="0" presId="urn:microsoft.com/office/officeart/2008/layout/LinedList"/>
    <dgm:cxn modelId="{6DD8E442-36D5-4A9E-A7B4-3101D1000C74}" type="presParOf" srcId="{62F57785-17FC-4D43-AD6F-C610FE586226}" destId="{C23064F6-141F-426C-AB59-B2CD5381041A}" srcOrd="2" destOrd="0" presId="urn:microsoft.com/office/officeart/2008/layout/LinedList"/>
    <dgm:cxn modelId="{928CE0BF-8C28-48D9-933E-0DD436912D7E}" type="presParOf" srcId="{62F57785-17FC-4D43-AD6F-C610FE586226}" destId="{EA4A3FEC-28E7-4280-9D53-9E7406B1BF09}" srcOrd="3" destOrd="0" presId="urn:microsoft.com/office/officeart/2008/layout/LinedList"/>
    <dgm:cxn modelId="{989CC78D-12A7-450D-AD13-FB66A4E5C0EF}" type="presParOf" srcId="{EA4A3FEC-28E7-4280-9D53-9E7406B1BF09}" destId="{92CFC261-B7BC-4073-B764-9EB1866E561D}" srcOrd="0" destOrd="0" presId="urn:microsoft.com/office/officeart/2008/layout/LinedList"/>
    <dgm:cxn modelId="{1F6E7286-DA9B-47C2-A9F6-19E39349E34C}" type="presParOf" srcId="{EA4A3FEC-28E7-4280-9D53-9E7406B1BF09}" destId="{EFEDD2BB-BF4A-4300-B113-9E044B52F717}" srcOrd="1" destOrd="0" presId="urn:microsoft.com/office/officeart/2008/layout/LinedList"/>
    <dgm:cxn modelId="{D439DF1E-9485-4A15-82B6-A8A922CED9FC}" type="presParOf" srcId="{62F57785-17FC-4D43-AD6F-C610FE586226}" destId="{1F78A208-A964-4F71-9C56-0ED0A6777211}" srcOrd="4" destOrd="0" presId="urn:microsoft.com/office/officeart/2008/layout/LinedList"/>
    <dgm:cxn modelId="{9FA5A4F2-2F16-42C3-B5EA-F3EB3EE5E94A}" type="presParOf" srcId="{62F57785-17FC-4D43-AD6F-C610FE586226}" destId="{FF10A19F-5EBE-4D8A-91A7-B25DEAC2444C}" srcOrd="5" destOrd="0" presId="urn:microsoft.com/office/officeart/2008/layout/LinedList"/>
    <dgm:cxn modelId="{C25C07A5-E2C8-4979-AFCA-82D2D07B6F9D}" type="presParOf" srcId="{FF10A19F-5EBE-4D8A-91A7-B25DEAC2444C}" destId="{6B5526BC-68B4-43FE-8AE9-ABA63092B597}" srcOrd="0" destOrd="0" presId="urn:microsoft.com/office/officeart/2008/layout/LinedList"/>
    <dgm:cxn modelId="{6415504E-F6DA-4F8A-B11C-D124FB353423}" type="presParOf" srcId="{FF10A19F-5EBE-4D8A-91A7-B25DEAC2444C}" destId="{BC288689-5625-4E7E-A755-4E3F1EB9559C}" srcOrd="1" destOrd="0" presId="urn:microsoft.com/office/officeart/2008/layout/LinedList"/>
    <dgm:cxn modelId="{48302169-D35F-4139-ADB2-A44E605B8DA6}" type="presParOf" srcId="{62F57785-17FC-4D43-AD6F-C610FE586226}" destId="{F5F8B5BD-C5B9-41C3-8BA8-BEA660F42BDA}" srcOrd="6" destOrd="0" presId="urn:microsoft.com/office/officeart/2008/layout/LinedList"/>
    <dgm:cxn modelId="{7707086C-5A16-44F7-B4FF-EB3211EBDF8F}" type="presParOf" srcId="{62F57785-17FC-4D43-AD6F-C610FE586226}" destId="{4E8094EA-4B8E-4317-B0A0-B8A159F7C6AF}" srcOrd="7" destOrd="0" presId="urn:microsoft.com/office/officeart/2008/layout/LinedList"/>
    <dgm:cxn modelId="{56EBB368-A85D-4656-B17A-A39CA0ABA763}" type="presParOf" srcId="{4E8094EA-4B8E-4317-B0A0-B8A159F7C6AF}" destId="{494532B2-A24C-4DD8-B18E-2691071FE3AD}" srcOrd="0" destOrd="0" presId="urn:microsoft.com/office/officeart/2008/layout/LinedList"/>
    <dgm:cxn modelId="{CDB0F30C-0957-4CBD-A669-8811EE198F78}" type="presParOf" srcId="{4E8094EA-4B8E-4317-B0A0-B8A159F7C6AF}" destId="{A318EA59-E791-4081-A076-1AE0CD61FA5D}" srcOrd="1" destOrd="0" presId="urn:microsoft.com/office/officeart/2008/layout/LinedList"/>
    <dgm:cxn modelId="{2970B026-8D56-4B48-94DF-CAF9E6E24F55}" type="presParOf" srcId="{62F57785-17FC-4D43-AD6F-C610FE586226}" destId="{56E52380-857A-497C-B6E3-E0BEDBFF54DB}" srcOrd="8" destOrd="0" presId="urn:microsoft.com/office/officeart/2008/layout/LinedList"/>
    <dgm:cxn modelId="{28171E0F-8089-4A31-B07A-D368011651AA}" type="presParOf" srcId="{62F57785-17FC-4D43-AD6F-C610FE586226}" destId="{658F38A8-8989-4594-B291-A26CB05EB0F0}" srcOrd="9" destOrd="0" presId="urn:microsoft.com/office/officeart/2008/layout/LinedList"/>
    <dgm:cxn modelId="{3BAB7310-566F-461E-9E53-970F2D839885}" type="presParOf" srcId="{658F38A8-8989-4594-B291-A26CB05EB0F0}" destId="{8638D352-F74E-40EA-B17F-1E5DBB9F9105}" srcOrd="0" destOrd="0" presId="urn:microsoft.com/office/officeart/2008/layout/LinedList"/>
    <dgm:cxn modelId="{DD6991C4-94EA-4BAC-ADB2-86AB547592FF}" type="presParOf" srcId="{658F38A8-8989-4594-B291-A26CB05EB0F0}" destId="{D4C364F4-1BF7-4E9B-8921-16A6821FD7EE}" srcOrd="1" destOrd="0" presId="urn:microsoft.com/office/officeart/2008/layout/LinedList"/>
    <dgm:cxn modelId="{67B40E62-967C-4E8B-BA77-5A6DBF21B5B9}" type="presParOf" srcId="{62F57785-17FC-4D43-AD6F-C610FE586226}" destId="{0F9F3D00-4C3C-4C97-BFBD-2175548289D0}" srcOrd="10" destOrd="0" presId="urn:microsoft.com/office/officeart/2008/layout/LinedList"/>
    <dgm:cxn modelId="{E0131A7B-6341-431D-855A-9D0D1BC7B718}" type="presParOf" srcId="{62F57785-17FC-4D43-AD6F-C610FE586226}" destId="{AD982A17-04AE-465D-85B3-A4167F86BD47}" srcOrd="11" destOrd="0" presId="urn:microsoft.com/office/officeart/2008/layout/LinedList"/>
    <dgm:cxn modelId="{3957DD3B-217E-46F5-A97E-AC9619493862}" type="presParOf" srcId="{AD982A17-04AE-465D-85B3-A4167F86BD47}" destId="{40F35E6C-56E1-4C14-AFB5-F7E2D61977A8}" srcOrd="0" destOrd="0" presId="urn:microsoft.com/office/officeart/2008/layout/LinedList"/>
    <dgm:cxn modelId="{DD2B6550-711D-43BF-A2F4-735570C50249}" type="presParOf" srcId="{AD982A17-04AE-465D-85B3-A4167F86BD47}" destId="{00516783-32E5-42B3-8831-2696B1EA425B}" srcOrd="1" destOrd="0" presId="urn:microsoft.com/office/officeart/2008/layout/LinedList"/>
    <dgm:cxn modelId="{BE445793-37DB-492D-AE94-6C0B138572EA}" type="presParOf" srcId="{62F57785-17FC-4D43-AD6F-C610FE586226}" destId="{A487C648-371E-4BD6-B238-2BC003FC3FD1}" srcOrd="12" destOrd="0" presId="urn:microsoft.com/office/officeart/2008/layout/LinedList"/>
    <dgm:cxn modelId="{029E39B8-8020-413F-A58F-51BF563486F2}" type="presParOf" srcId="{62F57785-17FC-4D43-AD6F-C610FE586226}" destId="{54E02667-3D75-43C7-BBAB-54890102E019}" srcOrd="13" destOrd="0" presId="urn:microsoft.com/office/officeart/2008/layout/LinedList"/>
    <dgm:cxn modelId="{8FA679D9-FEFF-4DAC-BD5C-BB82A3825B5E}" type="presParOf" srcId="{54E02667-3D75-43C7-BBAB-54890102E019}" destId="{59293F2B-4ADC-4DE0-AC10-B3955CFF4B0F}" srcOrd="0" destOrd="0" presId="urn:microsoft.com/office/officeart/2008/layout/LinedList"/>
    <dgm:cxn modelId="{C5CE100C-28C8-4DC2-AE35-3F5C92DC2217}" type="presParOf" srcId="{54E02667-3D75-43C7-BBAB-54890102E019}" destId="{694EA687-B865-4195-87BD-894C9D47AF3C}" srcOrd="1" destOrd="0" presId="urn:microsoft.com/office/officeart/2008/layout/LinedList"/>
    <dgm:cxn modelId="{D22C72B7-7B7D-40DA-B5D4-FDFADD5B52A0}" type="presParOf" srcId="{62F57785-17FC-4D43-AD6F-C610FE586226}" destId="{C473B965-5B0F-4E96-8127-3E81B1FC9DA6}" srcOrd="14" destOrd="0" presId="urn:microsoft.com/office/officeart/2008/layout/LinedList"/>
    <dgm:cxn modelId="{B2E2C988-3D1C-44BF-902F-F748779C022E}" type="presParOf" srcId="{62F57785-17FC-4D43-AD6F-C610FE586226}" destId="{FDA7B581-37E7-4A48-A4EB-6CCB85BA3C39}" srcOrd="15" destOrd="0" presId="urn:microsoft.com/office/officeart/2008/layout/LinedList"/>
    <dgm:cxn modelId="{856FB262-12CA-4072-A8FB-879D997180B9}" type="presParOf" srcId="{FDA7B581-37E7-4A48-A4EB-6CCB85BA3C39}" destId="{4631FEC5-E127-4BEA-B78B-1CDDFC6EB86F}" srcOrd="0" destOrd="0" presId="urn:microsoft.com/office/officeart/2008/layout/LinedList"/>
    <dgm:cxn modelId="{DA1D8BFE-7E41-4FC9-B21E-2108153B38C5}" type="presParOf" srcId="{FDA7B581-37E7-4A48-A4EB-6CCB85BA3C39}" destId="{9E1EB63D-15FB-4E55-A665-1B87A3F047F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AB0F07-1012-4035-A34A-449CF9AE0233}">
      <dsp:nvSpPr>
        <dsp:cNvPr id="0" name=""/>
        <dsp:cNvSpPr/>
      </dsp:nvSpPr>
      <dsp:spPr>
        <a:xfrm>
          <a:off x="0" y="2124"/>
          <a:ext cx="773708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E34017-DDFF-4476-A37D-F66E683C38FF}">
      <dsp:nvSpPr>
        <dsp:cNvPr id="0" name=""/>
        <dsp:cNvSpPr/>
      </dsp:nvSpPr>
      <dsp:spPr>
        <a:xfrm>
          <a:off x="0" y="2124"/>
          <a:ext cx="7737086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Comparative genomics reveals shared and unique metabolic traits</a:t>
          </a:r>
        </a:p>
      </dsp:txBody>
      <dsp:txXfrm>
        <a:off x="0" y="2124"/>
        <a:ext cx="7737086" cy="724514"/>
      </dsp:txXfrm>
    </dsp:sp>
    <dsp:sp modelId="{54322ABC-8DE4-4ACB-A15F-E0309EB889F4}">
      <dsp:nvSpPr>
        <dsp:cNvPr id="0" name=""/>
        <dsp:cNvSpPr/>
      </dsp:nvSpPr>
      <dsp:spPr>
        <a:xfrm>
          <a:off x="0" y="726639"/>
          <a:ext cx="773708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41F9D7-C9A3-4076-9940-12C2EFE93039}">
      <dsp:nvSpPr>
        <dsp:cNvPr id="0" name=""/>
        <dsp:cNvSpPr/>
      </dsp:nvSpPr>
      <dsp:spPr>
        <a:xfrm>
          <a:off x="0" y="726639"/>
          <a:ext cx="7737086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Metabolic pathways show enzyme-driven biochemical reactions</a:t>
          </a:r>
        </a:p>
      </dsp:txBody>
      <dsp:txXfrm>
        <a:off x="0" y="726639"/>
        <a:ext cx="7737086" cy="724514"/>
      </dsp:txXfrm>
    </dsp:sp>
    <dsp:sp modelId="{2B17E45E-D209-4803-AA06-F69DB740B803}">
      <dsp:nvSpPr>
        <dsp:cNvPr id="0" name=""/>
        <dsp:cNvSpPr/>
      </dsp:nvSpPr>
      <dsp:spPr>
        <a:xfrm>
          <a:off x="0" y="1451154"/>
          <a:ext cx="773708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EA447E-6443-4E62-A205-B32F35B42D5A}">
      <dsp:nvSpPr>
        <dsp:cNvPr id="0" name=""/>
        <dsp:cNvSpPr/>
      </dsp:nvSpPr>
      <dsp:spPr>
        <a:xfrm>
          <a:off x="0" y="1451154"/>
          <a:ext cx="7737086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KEGG Orthology (KO) links genes to enzyme functions and pathways</a:t>
          </a:r>
        </a:p>
      </dsp:txBody>
      <dsp:txXfrm>
        <a:off x="0" y="1451154"/>
        <a:ext cx="7737086" cy="724514"/>
      </dsp:txXfrm>
    </dsp:sp>
    <dsp:sp modelId="{155703C9-A158-4D95-8206-646D52C6473B}">
      <dsp:nvSpPr>
        <dsp:cNvPr id="0" name=""/>
        <dsp:cNvSpPr/>
      </dsp:nvSpPr>
      <dsp:spPr>
        <a:xfrm>
          <a:off x="0" y="2175669"/>
          <a:ext cx="773708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A6A5D9-EF79-47AE-ACCD-963F52E12BEE}">
      <dsp:nvSpPr>
        <dsp:cNvPr id="0" name=""/>
        <dsp:cNvSpPr/>
      </dsp:nvSpPr>
      <dsp:spPr>
        <a:xfrm>
          <a:off x="0" y="2175669"/>
          <a:ext cx="7737086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Enzyme annotation uncovers genome potential for metabolism and adaptation</a:t>
          </a:r>
        </a:p>
      </dsp:txBody>
      <dsp:txXfrm>
        <a:off x="0" y="2175669"/>
        <a:ext cx="7737086" cy="724514"/>
      </dsp:txXfrm>
    </dsp:sp>
    <dsp:sp modelId="{5C93AF6D-5FDD-40DD-B0A8-DF5D15D77232}">
      <dsp:nvSpPr>
        <dsp:cNvPr id="0" name=""/>
        <dsp:cNvSpPr/>
      </dsp:nvSpPr>
      <dsp:spPr>
        <a:xfrm>
          <a:off x="0" y="2900183"/>
          <a:ext cx="773708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D076BB-F0E9-428A-A2C7-6099D28FF5FC}">
      <dsp:nvSpPr>
        <dsp:cNvPr id="0" name=""/>
        <dsp:cNvSpPr/>
      </dsp:nvSpPr>
      <dsp:spPr>
        <a:xfrm>
          <a:off x="0" y="2900183"/>
          <a:ext cx="7737086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Combines assembly, gene prediction, annotation, and pathway mapping</a:t>
          </a:r>
        </a:p>
      </dsp:txBody>
      <dsp:txXfrm>
        <a:off x="0" y="2900183"/>
        <a:ext cx="7737086" cy="724514"/>
      </dsp:txXfrm>
    </dsp:sp>
    <dsp:sp modelId="{36FB7C3F-5DC6-4FFA-9085-079467A32EB4}">
      <dsp:nvSpPr>
        <dsp:cNvPr id="0" name=""/>
        <dsp:cNvSpPr/>
      </dsp:nvSpPr>
      <dsp:spPr>
        <a:xfrm>
          <a:off x="0" y="3624698"/>
          <a:ext cx="773708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4EFCDF-D946-40F1-B541-803B945B668E}">
      <dsp:nvSpPr>
        <dsp:cNvPr id="0" name=""/>
        <dsp:cNvSpPr/>
      </dsp:nvSpPr>
      <dsp:spPr>
        <a:xfrm>
          <a:off x="0" y="3624698"/>
          <a:ext cx="7737086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Aids understanding of ecological roles and evolutionary link</a:t>
          </a:r>
        </a:p>
      </dsp:txBody>
      <dsp:txXfrm>
        <a:off x="0" y="3624698"/>
        <a:ext cx="7737086" cy="72451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F65D64-B0BA-4A7B-BDC2-0BA98E9992DF}">
      <dsp:nvSpPr>
        <dsp:cNvPr id="0" name=""/>
        <dsp:cNvSpPr/>
      </dsp:nvSpPr>
      <dsp:spPr>
        <a:xfrm>
          <a:off x="0" y="0"/>
          <a:ext cx="1053418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D94F3A-1243-43D4-922E-4D4EAFF72B7D}">
      <dsp:nvSpPr>
        <dsp:cNvPr id="0" name=""/>
        <dsp:cNvSpPr/>
      </dsp:nvSpPr>
      <dsp:spPr>
        <a:xfrm>
          <a:off x="0" y="0"/>
          <a:ext cx="10534185" cy="6043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Built automated system to analyze genetic data and understand metabolic functions</a:t>
          </a:r>
        </a:p>
      </dsp:txBody>
      <dsp:txXfrm>
        <a:off x="0" y="0"/>
        <a:ext cx="10534185" cy="604319"/>
      </dsp:txXfrm>
    </dsp:sp>
    <dsp:sp modelId="{C23064F6-141F-426C-AB59-B2CD5381041A}">
      <dsp:nvSpPr>
        <dsp:cNvPr id="0" name=""/>
        <dsp:cNvSpPr/>
      </dsp:nvSpPr>
      <dsp:spPr>
        <a:xfrm>
          <a:off x="0" y="604319"/>
          <a:ext cx="1053418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CFC261-B7BC-4073-B764-9EB1866E561D}">
      <dsp:nvSpPr>
        <dsp:cNvPr id="0" name=""/>
        <dsp:cNvSpPr/>
      </dsp:nvSpPr>
      <dsp:spPr>
        <a:xfrm>
          <a:off x="0" y="604319"/>
          <a:ext cx="10534185" cy="6043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Identified which enzymes are present in the organism's genome</a:t>
          </a:r>
        </a:p>
      </dsp:txBody>
      <dsp:txXfrm>
        <a:off x="0" y="604319"/>
        <a:ext cx="10534185" cy="604319"/>
      </dsp:txXfrm>
    </dsp:sp>
    <dsp:sp modelId="{1F78A208-A964-4F71-9C56-0ED0A6777211}">
      <dsp:nvSpPr>
        <dsp:cNvPr id="0" name=""/>
        <dsp:cNvSpPr/>
      </dsp:nvSpPr>
      <dsp:spPr>
        <a:xfrm>
          <a:off x="0" y="1208639"/>
          <a:ext cx="1053418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5526BC-68B4-43FE-8AE9-ABA63092B597}">
      <dsp:nvSpPr>
        <dsp:cNvPr id="0" name=""/>
        <dsp:cNvSpPr/>
      </dsp:nvSpPr>
      <dsp:spPr>
        <a:xfrm>
          <a:off x="0" y="1208639"/>
          <a:ext cx="10534185" cy="6043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Mapped genes to biochemical pathways showing what the organism can do</a:t>
          </a:r>
        </a:p>
      </dsp:txBody>
      <dsp:txXfrm>
        <a:off x="0" y="1208639"/>
        <a:ext cx="10534185" cy="604319"/>
      </dsp:txXfrm>
    </dsp:sp>
    <dsp:sp modelId="{F5F8B5BD-C5B9-41C3-8BA8-BEA660F42BDA}">
      <dsp:nvSpPr>
        <dsp:cNvPr id="0" name=""/>
        <dsp:cNvSpPr/>
      </dsp:nvSpPr>
      <dsp:spPr>
        <a:xfrm>
          <a:off x="0" y="1812958"/>
          <a:ext cx="1053418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4532B2-A24C-4DD8-B18E-2691071FE3AD}">
      <dsp:nvSpPr>
        <dsp:cNvPr id="0" name=""/>
        <dsp:cNvSpPr/>
      </dsp:nvSpPr>
      <dsp:spPr>
        <a:xfrm>
          <a:off x="0" y="1812958"/>
          <a:ext cx="10534185" cy="6043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Revealed complete and missing metabolic capabilities</a:t>
          </a:r>
        </a:p>
      </dsp:txBody>
      <dsp:txXfrm>
        <a:off x="0" y="1812958"/>
        <a:ext cx="10534185" cy="604319"/>
      </dsp:txXfrm>
    </dsp:sp>
    <dsp:sp modelId="{56E52380-857A-497C-B6E3-E0BEDBFF54DB}">
      <dsp:nvSpPr>
        <dsp:cNvPr id="0" name=""/>
        <dsp:cNvSpPr/>
      </dsp:nvSpPr>
      <dsp:spPr>
        <a:xfrm>
          <a:off x="0" y="2417278"/>
          <a:ext cx="1053418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38D352-F74E-40EA-B17F-1E5DBB9F9105}">
      <dsp:nvSpPr>
        <dsp:cNvPr id="0" name=""/>
        <dsp:cNvSpPr/>
      </dsp:nvSpPr>
      <dsp:spPr>
        <a:xfrm>
          <a:off x="0" y="2417278"/>
          <a:ext cx="10534185" cy="6043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Helps understand organism's role in nature and evolution</a:t>
          </a:r>
        </a:p>
      </dsp:txBody>
      <dsp:txXfrm>
        <a:off x="0" y="2417278"/>
        <a:ext cx="10534185" cy="604319"/>
      </dsp:txXfrm>
    </dsp:sp>
    <dsp:sp modelId="{0F9F3D00-4C3C-4C97-BFBD-2175548289D0}">
      <dsp:nvSpPr>
        <dsp:cNvPr id="0" name=""/>
        <dsp:cNvSpPr/>
      </dsp:nvSpPr>
      <dsp:spPr>
        <a:xfrm>
          <a:off x="0" y="3021598"/>
          <a:ext cx="1053418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F35E6C-56E1-4C14-AFB5-F7E2D61977A8}">
      <dsp:nvSpPr>
        <dsp:cNvPr id="0" name=""/>
        <dsp:cNvSpPr/>
      </dsp:nvSpPr>
      <dsp:spPr>
        <a:xfrm>
          <a:off x="0" y="3021598"/>
          <a:ext cx="10534185" cy="6043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Useful for </a:t>
          </a:r>
          <a:r>
            <a:rPr lang="en-US" sz="2200" kern="1200" dirty="0">
              <a:latin typeface="Aptos Display" panose="020F0302020204030204"/>
            </a:rPr>
            <a:t>Biotechnology</a:t>
          </a:r>
          <a:r>
            <a:rPr lang="en-US" sz="2200" kern="1200" dirty="0"/>
            <a:t>, </a:t>
          </a:r>
          <a:r>
            <a:rPr lang="en-US" sz="2200" kern="1200" dirty="0">
              <a:latin typeface="Aptos Display" panose="020F0302020204030204"/>
            </a:rPr>
            <a:t>Medicine</a:t>
          </a:r>
          <a:r>
            <a:rPr lang="en-US" sz="2200" kern="1200" dirty="0"/>
            <a:t>, and </a:t>
          </a:r>
          <a:r>
            <a:rPr lang="en-US" sz="2200" kern="1200" dirty="0">
              <a:latin typeface="Aptos Display" panose="020F0302020204030204"/>
            </a:rPr>
            <a:t>Drug</a:t>
          </a:r>
          <a:r>
            <a:rPr lang="en-US" sz="2200" kern="1200" dirty="0"/>
            <a:t> </a:t>
          </a:r>
          <a:r>
            <a:rPr lang="en-US" sz="2200" kern="1200" dirty="0">
              <a:latin typeface="Aptos Display" panose="020F0302020204030204"/>
            </a:rPr>
            <a:t>Discovery</a:t>
          </a:r>
          <a:endParaRPr lang="en-US" sz="2200" kern="1200" dirty="0"/>
        </a:p>
      </dsp:txBody>
      <dsp:txXfrm>
        <a:off x="0" y="3021598"/>
        <a:ext cx="10534185" cy="604319"/>
      </dsp:txXfrm>
    </dsp:sp>
    <dsp:sp modelId="{A487C648-371E-4BD6-B238-2BC003FC3FD1}">
      <dsp:nvSpPr>
        <dsp:cNvPr id="0" name=""/>
        <dsp:cNvSpPr/>
      </dsp:nvSpPr>
      <dsp:spPr>
        <a:xfrm>
          <a:off x="0" y="3625917"/>
          <a:ext cx="1053418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293F2B-4ADC-4DE0-AC10-B3955CFF4B0F}">
      <dsp:nvSpPr>
        <dsp:cNvPr id="0" name=""/>
        <dsp:cNvSpPr/>
      </dsp:nvSpPr>
      <dsp:spPr>
        <a:xfrm>
          <a:off x="0" y="3625917"/>
          <a:ext cx="10534185" cy="6043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Works for any organism - bacteria, plants, or animals</a:t>
          </a:r>
        </a:p>
      </dsp:txBody>
      <dsp:txXfrm>
        <a:off x="0" y="3625917"/>
        <a:ext cx="10534185" cy="604319"/>
      </dsp:txXfrm>
    </dsp:sp>
    <dsp:sp modelId="{C473B965-5B0F-4E96-8127-3E81B1FC9DA6}">
      <dsp:nvSpPr>
        <dsp:cNvPr id="0" name=""/>
        <dsp:cNvSpPr/>
      </dsp:nvSpPr>
      <dsp:spPr>
        <a:xfrm>
          <a:off x="0" y="4230237"/>
          <a:ext cx="1053418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31FEC5-E127-4BEA-B78B-1CDDFC6EB86F}">
      <dsp:nvSpPr>
        <dsp:cNvPr id="0" name=""/>
        <dsp:cNvSpPr/>
      </dsp:nvSpPr>
      <dsp:spPr>
        <a:xfrm>
          <a:off x="0" y="4230237"/>
          <a:ext cx="10534185" cy="6043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Combines multiple software tools into one efficient workflow</a:t>
          </a:r>
        </a:p>
      </dsp:txBody>
      <dsp:txXfrm>
        <a:off x="0" y="4230237"/>
        <a:ext cx="10534185" cy="6043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4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harat-Genome-Database-BGDB/CoGe_Pipeline/tree/main/group%202" TargetMode="External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50DF6B93-F3AC-40E0-8651-89582E5E87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8027539-FDC1-4BD7-ABD3-2C96884650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153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746EFA5-E6C7-4867-8011-E729148E8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799" y="685800"/>
            <a:ext cx="6742953" cy="5486400"/>
          </a:xfrm>
          <a:prstGeom prst="rect">
            <a:avLst/>
          </a:pr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04667" y="1600107"/>
            <a:ext cx="6319086" cy="1118087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b">
            <a:noAutofit/>
          </a:bodyPr>
          <a:lstStyle/>
          <a:p>
            <a:r>
              <a:rPr lang="en-US" sz="4000" b="1" kern="1200" dirty="0">
                <a:latin typeface="+mj-lt"/>
                <a:ea typeface="+mj-ea"/>
                <a:cs typeface="+mj-cs"/>
              </a:rPr>
              <a:t>Metabolic Pathway &amp; Enzyme Annotation Pipeline</a:t>
            </a:r>
            <a:endParaRPr lang="en-US" sz="4000" b="1" kern="1200" dirty="0">
              <a:latin typeface="+mj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5799" y="3787118"/>
            <a:ext cx="2171616" cy="1730972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2000" b="1" dirty="0"/>
              <a:t>Group 2</a:t>
            </a:r>
            <a:endParaRPr lang="en-US" b="1"/>
          </a:p>
          <a:p>
            <a:pPr algn="l"/>
            <a:r>
              <a:rPr lang="en-US" sz="2000" dirty="0"/>
              <a:t>Aswini R (6)</a:t>
            </a:r>
          </a:p>
          <a:p>
            <a:pPr algn="l"/>
            <a:r>
              <a:rPr lang="en-US" sz="2000" dirty="0"/>
              <a:t>Raj </a:t>
            </a:r>
            <a:r>
              <a:rPr lang="en-US" sz="2000" err="1"/>
              <a:t>Gondane</a:t>
            </a:r>
            <a:r>
              <a:rPr lang="en-US" sz="2000" dirty="0"/>
              <a:t> (12)</a:t>
            </a:r>
          </a:p>
          <a:p>
            <a:pPr algn="l"/>
            <a:r>
              <a:rPr lang="en-US" sz="2000" dirty="0"/>
              <a:t>Sanjai C (26)</a:t>
            </a:r>
          </a:p>
        </p:txBody>
      </p:sp>
      <p:pic>
        <p:nvPicPr>
          <p:cNvPr id="5" name="Picture 4" descr="A dna strand and spheres&#10;&#10;AI-generated content may be incorrect.">
            <a:extLst>
              <a:ext uri="{FF2B5EF4-FFF2-40B4-BE49-F238E27FC236}">
                <a16:creationId xmlns:a16="http://schemas.microsoft.com/office/drawing/2014/main" id="{E5352535-76E0-68D1-70CA-74B77DE766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968" r="-4" b="-4"/>
          <a:stretch>
            <a:fillRect/>
          </a:stretch>
        </p:blipFill>
        <p:spPr>
          <a:xfrm>
            <a:off x="8579407" y="3435515"/>
            <a:ext cx="3135145" cy="274671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Picture 5" descr="A logo with orange and black text&#10;&#10;AI-generated content may be incorrect.">
            <a:extLst>
              <a:ext uri="{FF2B5EF4-FFF2-40B4-BE49-F238E27FC236}">
                <a16:creationId xmlns:a16="http://schemas.microsoft.com/office/drawing/2014/main" id="{30E9872C-C6B9-5D7A-103C-C4684C9063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8950" y="779044"/>
            <a:ext cx="2464969" cy="2261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EF91A-3F9E-831F-0522-65A55B658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786" y="197857"/>
            <a:ext cx="11435574" cy="72154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742950" indent="-742950">
              <a:buAutoNum type="arabicPeriod"/>
            </a:pPr>
            <a:r>
              <a:rPr lang="en-US" sz="4000"/>
              <a:t>Why this pipeline 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BABAEB-1E7C-DAA2-4AE0-A27A8D9D0DBB}"/>
              </a:ext>
            </a:extLst>
          </p:cNvPr>
          <p:cNvSpPr txBox="1"/>
          <p:nvPr/>
        </p:nvSpPr>
        <p:spPr>
          <a:xfrm>
            <a:off x="471861" y="2196687"/>
            <a:ext cx="11437484" cy="98488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/>
              <a:t>2. What this Pipeline does ?</a:t>
            </a:r>
          </a:p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CDF376-FE56-48C2-D0FC-86037BC24C16}"/>
              </a:ext>
            </a:extLst>
          </p:cNvPr>
          <p:cNvSpPr txBox="1"/>
          <p:nvPr/>
        </p:nvSpPr>
        <p:spPr>
          <a:xfrm>
            <a:off x="473927" y="1062205"/>
            <a:ext cx="11439033" cy="100841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lnSpc>
                <a:spcPct val="90000"/>
              </a:lnSpc>
              <a:spcBef>
                <a:spcPts val="1000"/>
              </a:spcBef>
              <a:buFont typeface="Wingdings"/>
              <a:buChar char="§"/>
            </a:pPr>
            <a:r>
              <a:rPr lang="en-US" sz="2200"/>
              <a:t>To analyze genome metabolic capabilities through enzyme annotation and pathway mapping.</a:t>
            </a:r>
            <a:br>
              <a:rPr lang="en-US" sz="2200"/>
            </a:br>
            <a:endParaRPr lang="en-US" sz="22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015FAE-0160-73DC-59F3-1E0E19422888}"/>
              </a:ext>
            </a:extLst>
          </p:cNvPr>
          <p:cNvSpPr txBox="1"/>
          <p:nvPr/>
        </p:nvSpPr>
        <p:spPr>
          <a:xfrm>
            <a:off x="476250" y="3306905"/>
            <a:ext cx="11432580" cy="76944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buFont typeface="Wingdings"/>
              <a:buChar char="§"/>
            </a:pPr>
            <a:r>
              <a:rPr lang="en-US" sz="2200"/>
              <a:t>It Transforms raw genome sequences into comprehensive metabolic profiles byidentifying genes, annotating enzymes, and mapping them to KEGG pathways.</a:t>
            </a:r>
            <a:endParaRPr lang="en-US"/>
          </a:p>
        </p:txBody>
      </p:sp>
      <p:pic>
        <p:nvPicPr>
          <p:cNvPr id="12" name="Picture 11" descr="A black and white text&#10;&#10;AI-generated content may be incorrect.">
            <a:extLst>
              <a:ext uri="{FF2B5EF4-FFF2-40B4-BE49-F238E27FC236}">
                <a16:creationId xmlns:a16="http://schemas.microsoft.com/office/drawing/2014/main" id="{28635824-E82D-DC1A-4F76-15E50C0302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3470" y="4193207"/>
            <a:ext cx="5324475" cy="248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9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8954E-4914-467C-9059-983E886E8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909" y="365125"/>
            <a:ext cx="3313770" cy="1037490"/>
          </a:xfr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/>
          <a:lstStyle/>
          <a:p>
            <a:r>
              <a:rPr lang="en-US"/>
              <a:t>Introduction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89A1261E-4372-FE26-784A-6A52A87EDA8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24885" y="1825625"/>
          <a:ext cx="7737086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6781D33A-A78E-BCAC-6257-053F1E71CD5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54550" y="1713687"/>
            <a:ext cx="3981682" cy="3876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0138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49735-B171-B050-6D47-726A2DE54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5"/>
            <a:ext cx="2263698" cy="1037490"/>
          </a:xfr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4000"/>
              <a:t>Workflow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F9B41D-80C9-A615-3A0A-695B5AF99CC4}"/>
              </a:ext>
            </a:extLst>
          </p:cNvPr>
          <p:cNvSpPr txBox="1"/>
          <p:nvPr/>
        </p:nvSpPr>
        <p:spPr>
          <a:xfrm>
            <a:off x="4191000" y="362415"/>
            <a:ext cx="3521927" cy="64633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AutoNum type="arabicPeriod"/>
            </a:pPr>
            <a:r>
              <a:rPr lang="en-US">
                <a:latin typeface="fkGroteskNeue"/>
                <a:ea typeface="fkGroteskNeue"/>
                <a:cs typeface="fkGroteskNeue"/>
              </a:rPr>
              <a:t>📁 </a:t>
            </a:r>
            <a:r>
              <a:rPr lang="en-US" b="1">
                <a:latin typeface="fkGroteskNeue"/>
                <a:ea typeface="fkGroteskNeue"/>
                <a:cs typeface="fkGroteskNeue"/>
              </a:rPr>
              <a:t>Raw FASTQ Reads</a:t>
            </a:r>
            <a:br>
              <a:rPr lang="en-US">
                <a:latin typeface="fkGroteskNeue"/>
                <a:ea typeface="fkGroteskNeue"/>
                <a:cs typeface="fkGroteskNeue"/>
              </a:rPr>
            </a:br>
            <a:r>
              <a:rPr lang="en-US">
                <a:latin typeface="fkGroteskNeue"/>
                <a:ea typeface="fkGroteskNeue"/>
                <a:cs typeface="fkGroteskNeue"/>
              </a:rPr>
              <a:t>⬇️</a:t>
            </a:r>
          </a:p>
          <a:p>
            <a:pPr marL="228600" indent="-228600">
              <a:buFont typeface=""/>
              <a:buAutoNum type="arabicPeriod"/>
            </a:pPr>
            <a:r>
              <a:rPr lang="en-US">
                <a:latin typeface="fkGroteskNeue"/>
                <a:ea typeface="fkGroteskNeue"/>
                <a:cs typeface="fkGroteskNeue"/>
              </a:rPr>
              <a:t>🔍 </a:t>
            </a:r>
            <a:r>
              <a:rPr lang="en-US" b="1">
                <a:latin typeface="fkGroteskNeue"/>
                <a:ea typeface="fkGroteskNeue"/>
                <a:cs typeface="fkGroteskNeue"/>
              </a:rPr>
              <a:t>FastQC</a:t>
            </a:r>
            <a:br>
              <a:rPr lang="en-US">
                <a:latin typeface="fkGroteskNeue"/>
                <a:ea typeface="fkGroteskNeue"/>
                <a:cs typeface="fkGroteskNeue"/>
              </a:rPr>
            </a:br>
            <a:r>
              <a:rPr lang="en-US" i="1">
                <a:latin typeface="fkGroteskNeue"/>
                <a:ea typeface="fkGroteskNeue"/>
                <a:cs typeface="fkGroteskNeue"/>
              </a:rPr>
              <a:t>Quality Assessment</a:t>
            </a:r>
            <a:br>
              <a:rPr lang="en-US">
                <a:latin typeface="fkGroteskNeue"/>
                <a:ea typeface="fkGroteskNeue"/>
                <a:cs typeface="fkGroteskNeue"/>
              </a:rPr>
            </a:br>
            <a:r>
              <a:rPr lang="en-US">
                <a:latin typeface="fkGroteskNeue"/>
                <a:ea typeface="fkGroteskNeue"/>
                <a:cs typeface="fkGroteskNeue"/>
              </a:rPr>
              <a:t>⬇️</a:t>
            </a:r>
          </a:p>
          <a:p>
            <a:pPr marL="228600" indent="-228600">
              <a:buFont typeface=""/>
              <a:buAutoNum type="arabicPeriod"/>
            </a:pPr>
            <a:r>
              <a:rPr lang="en-US">
                <a:latin typeface="fkGroteskNeue"/>
                <a:ea typeface="fkGroteskNeue"/>
                <a:cs typeface="fkGroteskNeue"/>
              </a:rPr>
              <a:t>✂️ </a:t>
            </a:r>
            <a:r>
              <a:rPr lang="en-US" b="1">
                <a:latin typeface="fkGroteskNeue"/>
                <a:ea typeface="fkGroteskNeue"/>
                <a:cs typeface="fkGroteskNeue"/>
              </a:rPr>
              <a:t>fastp</a:t>
            </a:r>
            <a:br>
              <a:rPr lang="en-US">
                <a:latin typeface="fkGroteskNeue"/>
                <a:ea typeface="fkGroteskNeue"/>
                <a:cs typeface="fkGroteskNeue"/>
              </a:rPr>
            </a:br>
            <a:r>
              <a:rPr lang="en-US" i="1">
                <a:latin typeface="fkGroteskNeue"/>
                <a:ea typeface="fkGroteskNeue"/>
                <a:cs typeface="fkGroteskNeue"/>
              </a:rPr>
              <a:t>Quality Trimming &amp; Filtering</a:t>
            </a:r>
            <a:br>
              <a:rPr lang="en-US">
                <a:latin typeface="fkGroteskNeue"/>
                <a:ea typeface="fkGroteskNeue"/>
                <a:cs typeface="fkGroteskNeue"/>
              </a:rPr>
            </a:br>
            <a:r>
              <a:rPr lang="en-US">
                <a:latin typeface="fkGroteskNeue"/>
                <a:ea typeface="fkGroteskNeue"/>
                <a:cs typeface="fkGroteskNeue"/>
              </a:rPr>
              <a:t>⬇️</a:t>
            </a:r>
          </a:p>
          <a:p>
            <a:pPr marL="228600" indent="-228600">
              <a:buFont typeface=""/>
              <a:buAutoNum type="arabicPeriod"/>
            </a:pPr>
            <a:r>
              <a:rPr lang="en-US">
                <a:latin typeface="fkGroteskNeue"/>
                <a:ea typeface="fkGroteskNeue"/>
                <a:cs typeface="fkGroteskNeue"/>
              </a:rPr>
              <a:t>🧩 </a:t>
            </a:r>
            <a:r>
              <a:rPr lang="en-US" b="1">
                <a:latin typeface="fkGroteskNeue"/>
                <a:ea typeface="fkGroteskNeue"/>
                <a:cs typeface="fkGroteskNeue"/>
              </a:rPr>
              <a:t>SPAdes</a:t>
            </a:r>
            <a:br>
              <a:rPr lang="en-US">
                <a:latin typeface="fkGroteskNeue"/>
                <a:ea typeface="fkGroteskNeue"/>
                <a:cs typeface="fkGroteskNeue"/>
              </a:rPr>
            </a:br>
            <a:r>
              <a:rPr lang="en-US" i="1">
                <a:latin typeface="fkGroteskNeue"/>
                <a:ea typeface="fkGroteskNeue"/>
                <a:cs typeface="fkGroteskNeue"/>
              </a:rPr>
              <a:t>Genome Assembly</a:t>
            </a:r>
            <a:br>
              <a:rPr lang="en-US">
                <a:latin typeface="fkGroteskNeue"/>
                <a:ea typeface="fkGroteskNeue"/>
                <a:cs typeface="fkGroteskNeue"/>
              </a:rPr>
            </a:br>
            <a:r>
              <a:rPr lang="en-US">
                <a:latin typeface="fkGroteskNeue"/>
                <a:ea typeface="fkGroteskNeue"/>
                <a:cs typeface="fkGroteskNeue"/>
              </a:rPr>
              <a:t>⬇️</a:t>
            </a:r>
          </a:p>
          <a:p>
            <a:pPr marL="228600" indent="-228600">
              <a:buFont typeface=""/>
              <a:buAutoNum type="arabicPeriod"/>
            </a:pPr>
            <a:r>
              <a:rPr lang="en-US">
                <a:latin typeface="fkGroteskNeue"/>
                <a:ea typeface="fkGroteskNeue"/>
                <a:cs typeface="fkGroteskNeue"/>
              </a:rPr>
              <a:t>🔬 </a:t>
            </a:r>
            <a:r>
              <a:rPr lang="en-US" b="1">
                <a:latin typeface="fkGroteskNeue"/>
                <a:ea typeface="fkGroteskNeue"/>
                <a:cs typeface="fkGroteskNeue"/>
              </a:rPr>
              <a:t>Prokka</a:t>
            </a:r>
            <a:br>
              <a:rPr lang="en-US">
                <a:latin typeface="fkGroteskNeue"/>
                <a:ea typeface="fkGroteskNeue"/>
                <a:cs typeface="fkGroteskNeue"/>
              </a:rPr>
            </a:br>
            <a:r>
              <a:rPr lang="en-US" i="1">
                <a:latin typeface="fkGroteskNeue"/>
                <a:ea typeface="fkGroteskNeue"/>
                <a:cs typeface="fkGroteskNeue"/>
              </a:rPr>
              <a:t>Gene Prediction</a:t>
            </a:r>
            <a:br>
              <a:rPr lang="en-US">
                <a:latin typeface="fkGroteskNeue"/>
                <a:ea typeface="fkGroteskNeue"/>
                <a:cs typeface="fkGroteskNeue"/>
              </a:rPr>
            </a:br>
            <a:r>
              <a:rPr lang="en-US">
                <a:latin typeface="fkGroteskNeue"/>
                <a:ea typeface="fkGroteskNeue"/>
                <a:cs typeface="fkGroteskNeue"/>
              </a:rPr>
              <a:t>⬇️</a:t>
            </a:r>
          </a:p>
          <a:p>
            <a:pPr marL="228600" indent="-228600">
              <a:buFont typeface=""/>
              <a:buAutoNum type="arabicPeriod"/>
            </a:pPr>
            <a:r>
              <a:rPr lang="en-US">
                <a:latin typeface="fkGroteskNeue"/>
                <a:ea typeface="fkGroteskNeue"/>
                <a:cs typeface="fkGroteskNeue"/>
              </a:rPr>
              <a:t>🧬 </a:t>
            </a:r>
            <a:r>
              <a:rPr lang="en-US" b="1">
                <a:latin typeface="fkGroteskNeue"/>
                <a:ea typeface="fkGroteskNeue"/>
                <a:cs typeface="fkGroteskNeue"/>
              </a:rPr>
              <a:t>KOfamScan</a:t>
            </a:r>
            <a:br>
              <a:rPr lang="en-US">
                <a:latin typeface="fkGroteskNeue"/>
                <a:ea typeface="fkGroteskNeue"/>
                <a:cs typeface="fkGroteskNeue"/>
              </a:rPr>
            </a:br>
            <a:r>
              <a:rPr lang="en-US" i="1">
                <a:latin typeface="fkGroteskNeue"/>
                <a:ea typeface="fkGroteskNeue"/>
                <a:cs typeface="fkGroteskNeue"/>
              </a:rPr>
              <a:t>KO Annotation</a:t>
            </a:r>
            <a:br>
              <a:rPr lang="en-US">
                <a:latin typeface="fkGroteskNeue"/>
                <a:ea typeface="fkGroteskNeue"/>
                <a:cs typeface="fkGroteskNeue"/>
              </a:rPr>
            </a:br>
            <a:r>
              <a:rPr lang="en-US">
                <a:latin typeface="fkGroteskNeue"/>
                <a:ea typeface="fkGroteskNeue"/>
                <a:cs typeface="fkGroteskNeue"/>
              </a:rPr>
              <a:t>⬇️</a:t>
            </a:r>
          </a:p>
          <a:p>
            <a:pPr marL="228600" indent="-228600">
              <a:buFont typeface=""/>
              <a:buAutoNum type="arabicPeriod"/>
            </a:pPr>
            <a:r>
              <a:rPr lang="en-US">
                <a:latin typeface="fkGroteskNeue"/>
                <a:ea typeface="fkGroteskNeue"/>
                <a:cs typeface="fkGroteskNeue"/>
              </a:rPr>
              <a:t>🗺️ </a:t>
            </a:r>
            <a:r>
              <a:rPr lang="en-US" b="1">
                <a:latin typeface="fkGroteskNeue"/>
                <a:ea typeface="fkGroteskNeue"/>
                <a:cs typeface="fkGroteskNeue"/>
              </a:rPr>
              <a:t>KEGG Mapping</a:t>
            </a:r>
            <a:br>
              <a:rPr lang="en-US">
                <a:latin typeface="fkGroteskNeue"/>
                <a:ea typeface="fkGroteskNeue"/>
                <a:cs typeface="fkGroteskNeue"/>
              </a:rPr>
            </a:br>
            <a:r>
              <a:rPr lang="en-US" i="1">
                <a:latin typeface="fkGroteskNeue"/>
                <a:ea typeface="fkGroteskNeue"/>
                <a:cs typeface="fkGroteskNeue"/>
              </a:rPr>
              <a:t>Pathway Analysis</a:t>
            </a:r>
            <a:br>
              <a:rPr lang="en-US">
                <a:latin typeface="fkGroteskNeue"/>
                <a:ea typeface="fkGroteskNeue"/>
                <a:cs typeface="fkGroteskNeue"/>
              </a:rPr>
            </a:br>
            <a:r>
              <a:rPr lang="en-US">
                <a:latin typeface="fkGroteskNeue"/>
                <a:ea typeface="fkGroteskNeue"/>
                <a:cs typeface="fkGroteskNeue"/>
              </a:rPr>
              <a:t>⬇️</a:t>
            </a:r>
          </a:p>
          <a:p>
            <a:pPr marL="228600" indent="-228600">
              <a:buFont typeface=""/>
              <a:buAutoNum type="arabicPeriod"/>
            </a:pPr>
            <a:r>
              <a:rPr lang="en-US">
                <a:latin typeface="fkGroteskNeue"/>
                <a:ea typeface="fkGroteskNeue"/>
                <a:cs typeface="fkGroteskNeue"/>
              </a:rPr>
              <a:t>📊 </a:t>
            </a:r>
            <a:r>
              <a:rPr lang="en-US" b="1">
                <a:latin typeface="fkGroteskNeue"/>
                <a:ea typeface="fkGroteskNeue"/>
                <a:cs typeface="fkGroteskNeue"/>
              </a:rPr>
              <a:t>Pathway_counts.tsv</a:t>
            </a:r>
            <a:br>
              <a:rPr lang="en-US">
                <a:latin typeface="fkGroteskNeue"/>
                <a:ea typeface="fkGroteskNeue"/>
                <a:cs typeface="fkGroteskNeue"/>
              </a:rPr>
            </a:br>
            <a:r>
              <a:rPr lang="en-US" i="1">
                <a:latin typeface="fkGroteskNeue"/>
                <a:ea typeface="fkGroteskNeue"/>
                <a:cs typeface="fkGroteskNeue"/>
              </a:rPr>
              <a:t>Final Results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1065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8AB4D-A9A9-D0A8-891F-0FB9DA5FF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152" y="114223"/>
            <a:ext cx="5339574" cy="981735"/>
          </a:xfr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4000"/>
              <a:t>Workflow (Manual Run)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A35819-90FC-35E4-ED42-A432BA0116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2152" y="1240187"/>
            <a:ext cx="3676185" cy="55063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🔧 Quick Installation</a:t>
            </a:r>
            <a:endParaRPr lang="en-US"/>
          </a:p>
          <a:p>
            <a:pPr marL="0" indent="0">
              <a:buNone/>
            </a:pPr>
            <a:endParaRPr lang="en-US" sz="3200"/>
          </a:p>
        </p:txBody>
      </p:sp>
      <p:pic>
        <p:nvPicPr>
          <p:cNvPr id="4" name="Picture 3" descr="A screen shot of a computer screen&#10;&#10;AI-generated content may be incorrect.">
            <a:extLst>
              <a:ext uri="{FF2B5EF4-FFF2-40B4-BE49-F238E27FC236}">
                <a16:creationId xmlns:a16="http://schemas.microsoft.com/office/drawing/2014/main" id="{53F57193-5AE9-EBEC-E673-CFC5A09C4D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788" y="2058911"/>
            <a:ext cx="8014009" cy="430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3186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7F076-FEAA-97B4-1CA3-E808ACBA1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990" y="2230019"/>
            <a:ext cx="2951356" cy="981734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200">
                <a:latin typeface="Aptos"/>
              </a:rPr>
              <a:t>Step 1: FastQC</a:t>
            </a:r>
            <a:endParaRPr lang="en-US" sz="3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0519AA-7AC2-908C-CE7C-5021105BDF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990" y="3429836"/>
            <a:ext cx="10335859" cy="120307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200">
                <a:ea typeface="+mn-lt"/>
                <a:cs typeface="+mn-lt"/>
              </a:rPr>
              <a:t>Tool: FastQC</a:t>
            </a:r>
            <a:br>
              <a:rPr lang="en-US" sz="2200">
                <a:ea typeface="+mn-lt"/>
                <a:cs typeface="+mn-lt"/>
              </a:rPr>
            </a:br>
            <a:r>
              <a:rPr lang="en-US" sz="2200">
                <a:ea typeface="+mn-lt"/>
                <a:cs typeface="+mn-lt"/>
              </a:rPr>
              <a:t>Function: Performs initial quality assessment of raw sequencing reads to identify issues like low quality or adapter contamination.</a:t>
            </a:r>
            <a:endParaRPr lang="en-US" sz="22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C40064-8291-FB01-0431-EC071612B384}"/>
              </a:ext>
            </a:extLst>
          </p:cNvPr>
          <p:cNvSpPr txBox="1"/>
          <p:nvPr/>
        </p:nvSpPr>
        <p:spPr>
          <a:xfrm>
            <a:off x="320842" y="220579"/>
            <a:ext cx="4090736" cy="5847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/>
              <a:t>Setting Environment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CCBC29-864A-6C70-5D12-D52244C905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595" y="996366"/>
            <a:ext cx="8982075" cy="333375"/>
          </a:xfrm>
          <a:prstGeom prst="rect">
            <a:avLst/>
          </a:prstGeom>
        </p:spPr>
      </p:pic>
      <p:pic>
        <p:nvPicPr>
          <p:cNvPr id="8" name="Picture 7" descr="A green text on a black background&#10;&#10;AI-generated content may be incorrect.">
            <a:extLst>
              <a:ext uri="{FF2B5EF4-FFF2-40B4-BE49-F238E27FC236}">
                <a16:creationId xmlns:a16="http://schemas.microsoft.com/office/drawing/2014/main" id="{D4BAB7DB-E78E-4ACA-8EBE-655BC91C9C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41" y="1438776"/>
            <a:ext cx="7219950" cy="571500"/>
          </a:xfrm>
          <a:prstGeom prst="rect">
            <a:avLst/>
          </a:prstGeom>
        </p:spPr>
      </p:pic>
      <p:pic>
        <p:nvPicPr>
          <p:cNvPr id="9" name="Picture 8" descr="A screen shot of a computer code">
            <a:extLst>
              <a:ext uri="{FF2B5EF4-FFF2-40B4-BE49-F238E27FC236}">
                <a16:creationId xmlns:a16="http://schemas.microsoft.com/office/drawing/2014/main" id="{834BDB93-A9CF-3840-C13A-093AE81C5B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622" y="4701089"/>
            <a:ext cx="11978941" cy="1285875"/>
          </a:xfrm>
          <a:prstGeom prst="rect">
            <a:avLst/>
          </a:prstGeom>
        </p:spPr>
      </p:pic>
      <p:pic>
        <p:nvPicPr>
          <p:cNvPr id="10" name="Picture 9" descr="A diagram of a petri dish&#10;&#10;AI-generated content may be incorrect.">
            <a:extLst>
              <a:ext uri="{FF2B5EF4-FFF2-40B4-BE49-F238E27FC236}">
                <a16:creationId xmlns:a16="http://schemas.microsoft.com/office/drawing/2014/main" id="{4289C9E7-29D8-8480-D47F-C0E48A3787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3706" y="2225842"/>
            <a:ext cx="1838325" cy="1524000"/>
          </a:xfrm>
          <a:prstGeom prst="rect">
            <a:avLst/>
          </a:prstGeom>
        </p:spPr>
      </p:pic>
      <p:pic>
        <p:nvPicPr>
          <p:cNvPr id="11" name="Picture 10" descr="A yellow rectangular sign with blue text&#10;&#10;AI-generated content may be incorrect.">
            <a:extLst>
              <a:ext uri="{FF2B5EF4-FFF2-40B4-BE49-F238E27FC236}">
                <a16:creationId xmlns:a16="http://schemas.microsoft.com/office/drawing/2014/main" id="{6159D893-8073-6D30-487B-04F0A517D6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37320" y="2402055"/>
            <a:ext cx="1962150" cy="117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813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AFBB5-152D-941D-C44B-6E9831541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963" y="234783"/>
            <a:ext cx="4028574" cy="924511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sz="3200"/>
              <a:t>Step 1: FastQC Output</a:t>
            </a:r>
          </a:p>
        </p:txBody>
      </p:sp>
      <p:pic>
        <p:nvPicPr>
          <p:cNvPr id="4" name="Picture 3" descr="A screenshot of a data sheet&#10;&#10;AI-generated content may be incorrect.">
            <a:extLst>
              <a:ext uri="{FF2B5EF4-FFF2-40B4-BE49-F238E27FC236}">
                <a16:creationId xmlns:a16="http://schemas.microsoft.com/office/drawing/2014/main" id="{8211B243-50B2-66B9-8DB9-50B19895BA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462" y="1553578"/>
            <a:ext cx="5543550" cy="3028950"/>
          </a:xfrm>
          <a:prstGeom prst="rect">
            <a:avLst/>
          </a:prstGeom>
        </p:spPr>
      </p:pic>
      <p:pic>
        <p:nvPicPr>
          <p:cNvPr id="5" name="Picture 4" descr="A screenshot of a screen&#10;&#10;AI-generated content may be incorrect.">
            <a:extLst>
              <a:ext uri="{FF2B5EF4-FFF2-40B4-BE49-F238E27FC236}">
                <a16:creationId xmlns:a16="http://schemas.microsoft.com/office/drawing/2014/main" id="{8ACFE7FB-2B08-FFBB-FDC3-A1C87A525F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6001" y="1553577"/>
            <a:ext cx="6285499" cy="436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7465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7D49A-FDDE-DFA6-C4F7-F5F717CA4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908" y="154572"/>
            <a:ext cx="2421674" cy="966328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200">
                <a:latin typeface="Aptos"/>
              </a:rPr>
              <a:t>Step 2: fastp</a:t>
            </a:r>
            <a:endParaRPr lang="en-US" sz="3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753611-3714-0D40-A128-3629AF0175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908" y="1354388"/>
            <a:ext cx="6835208" cy="1503865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2200">
                <a:ea typeface="+mn-lt"/>
                <a:cs typeface="+mn-lt"/>
              </a:rPr>
              <a:t>Tool: fastp</a:t>
            </a:r>
            <a:endParaRPr lang="en-US"/>
          </a:p>
          <a:p>
            <a:pPr algn="just">
              <a:buNone/>
            </a:pPr>
            <a:r>
              <a:rPr lang="en-US" sz="2200">
                <a:ea typeface="+mn-lt"/>
                <a:cs typeface="+mn-lt"/>
              </a:rPr>
              <a:t>Function: Trims adapters and filters low-quality bases to clean raw reads and improve downstream analyses.</a:t>
            </a:r>
          </a:p>
          <a:p>
            <a:pPr marL="0" indent="0" algn="just">
              <a:buNone/>
            </a:pPr>
            <a:endParaRPr lang="en-US" sz="2200"/>
          </a:p>
        </p:txBody>
      </p:sp>
      <p:pic>
        <p:nvPicPr>
          <p:cNvPr id="4" name="Picture 3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7475505A-47F3-BB8F-1131-864BAFB4F3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675" y="2858503"/>
            <a:ext cx="10534650" cy="232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6166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DB51A-3E87-93E9-C112-B4AC3AA68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989" y="224757"/>
            <a:ext cx="3767889" cy="1014747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200"/>
              <a:t>Step 2: fastp Output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DCAA2B5-5633-DA61-7100-712356BFFB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0816" y="0"/>
            <a:ext cx="483889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7029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33AE6-D76D-88F3-77F0-E6A1F2008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990" y="144546"/>
            <a:ext cx="5723021" cy="111501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200">
                <a:latin typeface="Aptos"/>
              </a:rPr>
              <a:t>Step 3: FastQC (Post-trimming)</a:t>
            </a:r>
            <a:endParaRPr lang="en-US" sz="3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1050F-8369-ACD1-1104-8941CFEF42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990" y="1444625"/>
            <a:ext cx="10976810" cy="205531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2200">
                <a:ea typeface="+mn-lt"/>
                <a:cs typeface="+mn-lt"/>
              </a:rPr>
              <a:t>Tool: FastQC</a:t>
            </a:r>
          </a:p>
          <a:p>
            <a:pPr algn="just">
              <a:buNone/>
            </a:pPr>
            <a:r>
              <a:rPr lang="en-US" sz="2200">
                <a:ea typeface="+mn-lt"/>
                <a:cs typeface="+mn-lt"/>
              </a:rPr>
              <a:t>Function: Re-assesses quality of cleaned reads to ensure trimming and filtering were successful.</a:t>
            </a:r>
            <a:endParaRPr lang="en-US" sz="2200"/>
          </a:p>
          <a:p>
            <a:pPr marL="0" indent="0">
              <a:buNone/>
            </a:pPr>
            <a:br>
              <a:rPr lang="en-US"/>
            </a:br>
            <a:endParaRPr lang="en-US" sz="2200"/>
          </a:p>
        </p:txBody>
      </p:sp>
      <p:pic>
        <p:nvPicPr>
          <p:cNvPr id="4" name="Picture 3" descr="A computer screen shot of a computer code&#10;&#10;AI-generated content may be incorrect.">
            <a:extLst>
              <a:ext uri="{FF2B5EF4-FFF2-40B4-BE49-F238E27FC236}">
                <a16:creationId xmlns:a16="http://schemas.microsoft.com/office/drawing/2014/main" id="{A80423BE-AFA1-3AF1-835D-1262323F29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230" y="2777289"/>
            <a:ext cx="10182225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2328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B948A-8867-54A8-1C04-48860A4E1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517" y="254836"/>
            <a:ext cx="7026441" cy="854326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200"/>
              <a:t>Step 3: FastQC (Post-trimming) Output</a:t>
            </a:r>
          </a:p>
        </p:txBody>
      </p:sp>
      <p:pic>
        <p:nvPicPr>
          <p:cNvPr id="4" name="Picture 3" descr="A screenshot of a statistics&#10;&#10;AI-generated content may be incorrect.">
            <a:extLst>
              <a:ext uri="{FF2B5EF4-FFF2-40B4-BE49-F238E27FC236}">
                <a16:creationId xmlns:a16="http://schemas.microsoft.com/office/drawing/2014/main" id="{B1FC6BE6-9C5C-B937-B439-F5C1B83734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22" y="1507206"/>
            <a:ext cx="5657850" cy="29813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90495BE-7A59-53B6-C7F6-CC0D180FC3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498" y="1508710"/>
            <a:ext cx="6097004" cy="5174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2890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0CC77-6DD7-3EDC-46D6-F7E3C6949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043" y="365125"/>
            <a:ext cx="2975810" cy="1145089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200">
                <a:latin typeface="Aptos"/>
              </a:rPr>
              <a:t>Step 4: SPAdes</a:t>
            </a:r>
            <a:endParaRPr lang="en-US" sz="3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B15BEE-4BFE-5A6B-7B49-10AC63A49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043" y="1825625"/>
            <a:ext cx="10956757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2200">
                <a:ea typeface="+mn-lt"/>
                <a:cs typeface="+mn-lt"/>
              </a:rPr>
              <a:t>Tool: SPAdes</a:t>
            </a:r>
          </a:p>
          <a:p>
            <a:pPr>
              <a:buNone/>
            </a:pPr>
            <a:r>
              <a:rPr lang="en-US" sz="2200">
                <a:ea typeface="+mn-lt"/>
                <a:cs typeface="+mn-lt"/>
              </a:rPr>
              <a:t>Function: Assembles high-quality reads into longer contiguous sequences (contigs) that represent the genome.</a:t>
            </a:r>
            <a:endParaRPr lang="en-US" sz="2200"/>
          </a:p>
          <a:p>
            <a:pPr marL="0" indent="0">
              <a:buNone/>
            </a:pPr>
            <a:endParaRPr lang="en-US" sz="2200"/>
          </a:p>
        </p:txBody>
      </p:sp>
      <p:pic>
        <p:nvPicPr>
          <p:cNvPr id="4" name="Picture 3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82420DF5-1251-1892-A0D1-F91CF8AAE4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304" y="2990850"/>
            <a:ext cx="10487025" cy="201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5300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13E47-4619-7A82-E901-DD151C163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517" y="225735"/>
            <a:ext cx="4401015" cy="1344148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r>
              <a:rPr lang="en-US" sz="3200"/>
              <a:t>Step 4: </a:t>
            </a:r>
            <a:r>
              <a:rPr lang="en-US" sz="3200" err="1"/>
              <a:t>SPAdes</a:t>
            </a:r>
            <a:r>
              <a:rPr lang="en-US" sz="3200"/>
              <a:t> Output</a:t>
            </a:r>
          </a:p>
        </p:txBody>
      </p:sp>
      <p:pic>
        <p:nvPicPr>
          <p:cNvPr id="4" name="Picture 3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EA1E34BF-519F-3EAC-A66B-131FF38A5D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94317"/>
            <a:ext cx="12192000" cy="3026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779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0D2D8-7948-CEF4-B964-5F2CE466B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964" y="164599"/>
            <a:ext cx="3035968" cy="10348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200">
                <a:latin typeface="Aptos"/>
              </a:rPr>
              <a:t>Step 5: QUAST</a:t>
            </a:r>
            <a:endParaRPr lang="en-US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EE9F50-893E-4BDB-6819-B7FD57A61D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6963" y="1434598"/>
            <a:ext cx="10876547" cy="141362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2200">
                <a:ea typeface="+mn-lt"/>
                <a:cs typeface="+mn-lt"/>
              </a:rPr>
              <a:t>Tool: QUAST</a:t>
            </a:r>
          </a:p>
          <a:p>
            <a:pPr>
              <a:buNone/>
            </a:pPr>
            <a:r>
              <a:rPr lang="en-US" sz="2200">
                <a:ea typeface="+mn-lt"/>
                <a:cs typeface="+mn-lt"/>
              </a:rPr>
              <a:t>Function: Evaluates assembly quality metrics like contig length and completeness.</a:t>
            </a:r>
            <a:endParaRPr lang="en-US" sz="2200"/>
          </a:p>
          <a:p>
            <a:pPr marL="0" indent="0">
              <a:buNone/>
            </a:pPr>
            <a:endParaRPr lang="en-US" sz="2200"/>
          </a:p>
        </p:txBody>
      </p:sp>
      <p:pic>
        <p:nvPicPr>
          <p:cNvPr id="4" name="Picture 3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10A42FE7-08A9-95E3-1ED0-3353C6DA3A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3444" y="2527384"/>
            <a:ext cx="7181850" cy="136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2482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7DDF3-4248-0315-43BF-CEFBECAE0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005" y="86344"/>
            <a:ext cx="4047893" cy="1186173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200"/>
              <a:t>Step 5: QUAST Output</a:t>
            </a:r>
          </a:p>
        </p:txBody>
      </p:sp>
      <p:pic>
        <p:nvPicPr>
          <p:cNvPr id="4" name="Picture 3" descr="A table of numbers and symbols&#10;&#10;AI-generated content may be incorrect.">
            <a:extLst>
              <a:ext uri="{FF2B5EF4-FFF2-40B4-BE49-F238E27FC236}">
                <a16:creationId xmlns:a16="http://schemas.microsoft.com/office/drawing/2014/main" id="{536A3BC9-89BE-DD06-3B84-15A16AB946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6410" y="0"/>
            <a:ext cx="2728838" cy="6858000"/>
          </a:xfrm>
          <a:prstGeom prst="rect">
            <a:avLst/>
          </a:prstGeom>
        </p:spPr>
      </p:pic>
      <p:pic>
        <p:nvPicPr>
          <p:cNvPr id="5" name="Picture 4" descr="A graph with a red line">
            <a:extLst>
              <a:ext uri="{FF2B5EF4-FFF2-40B4-BE49-F238E27FC236}">
                <a16:creationId xmlns:a16="http://schemas.microsoft.com/office/drawing/2014/main" id="{B3467521-B068-211C-EAD0-8FB6599E91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9053" y="2277869"/>
            <a:ext cx="4411236" cy="3157189"/>
          </a:xfrm>
          <a:prstGeom prst="rect">
            <a:avLst/>
          </a:prstGeom>
        </p:spPr>
      </p:pic>
      <p:pic>
        <p:nvPicPr>
          <p:cNvPr id="6" name="Picture 5" descr="A graph with a line&#10;&#10;AI-generated content may be incorrect.">
            <a:extLst>
              <a:ext uri="{FF2B5EF4-FFF2-40B4-BE49-F238E27FC236}">
                <a16:creationId xmlns:a16="http://schemas.microsoft.com/office/drawing/2014/main" id="{98B10C47-5E72-3517-54C6-529C9A47B9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308" y="1344535"/>
            <a:ext cx="3835555" cy="2682101"/>
          </a:xfrm>
          <a:prstGeom prst="rect">
            <a:avLst/>
          </a:prstGeom>
        </p:spPr>
      </p:pic>
      <p:pic>
        <p:nvPicPr>
          <p:cNvPr id="7" name="Picture 6" descr="A graph with a red line&#10;&#10;AI-generated content may be incorrect.">
            <a:extLst>
              <a:ext uri="{FF2B5EF4-FFF2-40B4-BE49-F238E27FC236}">
                <a16:creationId xmlns:a16="http://schemas.microsoft.com/office/drawing/2014/main" id="{C5CD1E83-2AD9-79A9-2DAE-0A48C33927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307" y="4020829"/>
            <a:ext cx="3835556" cy="2840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4000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3AA40-8C4B-B461-1D09-1232944BC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858" y="110310"/>
            <a:ext cx="3035969" cy="1265405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200">
                <a:latin typeface="Aptos"/>
              </a:rPr>
              <a:t>Step 6: Prokka</a:t>
            </a:r>
            <a:endParaRPr lang="en-US" sz="3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1A354A-5AEF-98E4-399B-D52F3AC176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858" y="1492311"/>
            <a:ext cx="11026942" cy="127326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2200">
                <a:ea typeface="+mn-lt"/>
                <a:cs typeface="+mn-lt"/>
              </a:rPr>
              <a:t>Tool: Prokka</a:t>
            </a:r>
          </a:p>
          <a:p>
            <a:pPr>
              <a:buNone/>
            </a:pPr>
            <a:r>
              <a:rPr lang="en-US" sz="2200">
                <a:ea typeface="+mn-lt"/>
                <a:cs typeface="+mn-lt"/>
              </a:rPr>
              <a:t>Function: Predicts genes (protein-coding sequences) in assembled contigs and performs functional annotation.</a:t>
            </a:r>
            <a:endParaRPr lang="en-US" sz="2200"/>
          </a:p>
          <a:p>
            <a:pPr marL="0" indent="0">
              <a:buNone/>
            </a:pPr>
            <a:endParaRPr lang="en-US" sz="2200"/>
          </a:p>
        </p:txBody>
      </p:sp>
      <p:pic>
        <p:nvPicPr>
          <p:cNvPr id="4" name="Picture 3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E5635716-5BF7-3AD2-C301-8814438813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64381"/>
            <a:ext cx="12192000" cy="957530"/>
          </a:xfrm>
          <a:prstGeom prst="rect">
            <a:avLst/>
          </a:prstGeom>
        </p:spPr>
      </p:pic>
      <p:pic>
        <p:nvPicPr>
          <p:cNvPr id="5" name="Picture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0F8F0BA2-BD3E-2564-5D06-445ABEA06B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42152"/>
            <a:ext cx="12192000" cy="2927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0939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31F5D-B8F9-7BD8-262D-788BFF20C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621" y="204704"/>
            <a:ext cx="3797969" cy="1205247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200">
                <a:latin typeface="Aptos"/>
              </a:rPr>
              <a:t>Step 7: KOfamScan</a:t>
            </a:r>
            <a:endParaRPr lang="en-US" sz="3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B89539-6685-229E-7E85-E836014CBE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6622" y="1825625"/>
            <a:ext cx="11117178" cy="121310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2200">
                <a:ea typeface="+mn-lt"/>
                <a:cs typeface="+mn-lt"/>
              </a:rPr>
              <a:t>Tool: KOfamScan</a:t>
            </a:r>
          </a:p>
          <a:p>
            <a:pPr>
              <a:buNone/>
            </a:pPr>
            <a:r>
              <a:rPr lang="en-US" sz="2200">
                <a:ea typeface="+mn-lt"/>
                <a:cs typeface="+mn-lt"/>
              </a:rPr>
              <a:t>Function: Assigns KEGG Orthology (KO) identifiers to predicted proteins using HMM profiles for enzyme annotation.</a:t>
            </a:r>
            <a:endParaRPr lang="en-US" sz="2200"/>
          </a:p>
          <a:p>
            <a:pPr marL="0" indent="0">
              <a:buNone/>
            </a:pPr>
            <a:endParaRPr lang="en-US" sz="2200"/>
          </a:p>
        </p:txBody>
      </p:sp>
      <p:pic>
        <p:nvPicPr>
          <p:cNvPr id="4" name="Picture 3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5EB417A5-B290-AECE-3901-6882A225D7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39430"/>
            <a:ext cx="12192000" cy="552721"/>
          </a:xfrm>
          <a:prstGeom prst="rect">
            <a:avLst/>
          </a:prstGeom>
        </p:spPr>
      </p:pic>
      <p:pic>
        <p:nvPicPr>
          <p:cNvPr id="5" name="Picture 4" descr="A yellow sign with black text&#10;&#10;AI-generated content may be incorrect.">
            <a:extLst>
              <a:ext uri="{FF2B5EF4-FFF2-40B4-BE49-F238E27FC236}">
                <a16:creationId xmlns:a16="http://schemas.microsoft.com/office/drawing/2014/main" id="{DA13FEF0-87CE-1F34-4F12-6191E6BCD1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36733"/>
            <a:ext cx="12192000" cy="20679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5A11AD0-7ADC-B93F-B75E-A789CA9923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5375" y="5103395"/>
            <a:ext cx="1000125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6989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5C24E-FC85-B31D-6258-A03F64BBB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805" y="164599"/>
            <a:ext cx="4900864" cy="1064879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r>
              <a:rPr lang="en-US" sz="3200"/>
              <a:t>Step 7: </a:t>
            </a:r>
            <a:r>
              <a:rPr lang="en-US" sz="3200" err="1"/>
              <a:t>KOfamScan</a:t>
            </a:r>
            <a:r>
              <a:rPr lang="en-US" sz="3200"/>
              <a:t> Output</a:t>
            </a:r>
          </a:p>
        </p:txBody>
      </p:sp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C3DD7A1C-D4A5-5A2B-6E68-714710451F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1" y="1528512"/>
            <a:ext cx="12039600" cy="283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6777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96B76-07D9-E98D-5E33-C18DAA493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832" y="124494"/>
            <a:ext cx="5311942" cy="1175168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200">
                <a:latin typeface="Aptos"/>
              </a:rPr>
              <a:t>Step 8: Filter KO Annotations</a:t>
            </a:r>
            <a:endParaRPr lang="en-US" sz="3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439BE-3B2C-16EF-3ABD-539EC33D8F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6832" y="1474704"/>
            <a:ext cx="11036968" cy="1604127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buNone/>
            </a:pPr>
            <a:r>
              <a:rPr lang="en-US" sz="2200">
                <a:ea typeface="+mn-lt"/>
                <a:cs typeface="+mn-lt"/>
              </a:rPr>
              <a:t>Tool: grep</a:t>
            </a:r>
          </a:p>
          <a:p>
            <a:pPr>
              <a:buNone/>
            </a:pPr>
            <a:r>
              <a:rPr lang="en-US" sz="2200">
                <a:ea typeface="+mn-lt"/>
                <a:cs typeface="+mn-lt"/>
              </a:rPr>
              <a:t>Function: Extracts high-confidence KO assignments by filtering KOfamScan output.</a:t>
            </a:r>
            <a:endParaRPr lang="en-US" sz="2200"/>
          </a:p>
          <a:p>
            <a:pPr marL="0" indent="0">
              <a:buNone/>
            </a:pPr>
            <a:br>
              <a:rPr lang="en-US"/>
            </a:br>
            <a:endParaRPr lang="en-US" sz="2200"/>
          </a:p>
        </p:txBody>
      </p:sp>
      <p:pic>
        <p:nvPicPr>
          <p:cNvPr id="4" name="Picture 3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CF3C2D3A-1A88-431C-1BA6-9A3775EED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57286"/>
            <a:ext cx="12192000" cy="439479"/>
          </a:xfrm>
          <a:prstGeom prst="rect">
            <a:avLst/>
          </a:prstGeom>
        </p:spPr>
      </p:pic>
      <p:pic>
        <p:nvPicPr>
          <p:cNvPr id="5" name="Picture 4" descr="A screen shot of a computer screen&#10;&#10;AI-generated content may be incorrect.">
            <a:extLst>
              <a:ext uri="{FF2B5EF4-FFF2-40B4-BE49-F238E27FC236}">
                <a16:creationId xmlns:a16="http://schemas.microsoft.com/office/drawing/2014/main" id="{6BA03D96-7F18-0B1A-BBD7-C4D64480FC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06190"/>
            <a:ext cx="12192000" cy="243451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0556A33-E0D7-A54C-DB37-B72369A4AC61}"/>
              </a:ext>
            </a:extLst>
          </p:cNvPr>
          <p:cNvSpPr txBox="1"/>
          <p:nvPr/>
        </p:nvSpPr>
        <p:spPr>
          <a:xfrm>
            <a:off x="320842" y="3078079"/>
            <a:ext cx="1463841" cy="5847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200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40843678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CBE36-B9D6-A9C1-3018-4BAC89CB3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154572"/>
            <a:ext cx="4058654" cy="1175168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200">
                <a:latin typeface="Aptos"/>
              </a:rPr>
              <a:t>Step 9: Extract KO IDs</a:t>
            </a:r>
            <a:endParaRPr lang="en-US" sz="3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6122D-C508-C9C6-00EE-7E4FFD1A1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1544888"/>
            <a:ext cx="11087100" cy="118302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2200">
                <a:ea typeface="+mn-lt"/>
                <a:cs typeface="+mn-lt"/>
              </a:rPr>
              <a:t>Tool: cut &amp; sort</a:t>
            </a:r>
          </a:p>
          <a:p>
            <a:pPr>
              <a:buNone/>
            </a:pPr>
            <a:r>
              <a:rPr lang="en-US" sz="2200">
                <a:ea typeface="+mn-lt"/>
                <a:cs typeface="+mn-lt"/>
              </a:rPr>
              <a:t>Function: Lists unique KO identifiers for pathway mapping.</a:t>
            </a:r>
          </a:p>
          <a:p>
            <a:pPr marL="0" indent="0">
              <a:buNone/>
            </a:pPr>
            <a:endParaRPr lang="en-US" sz="2200"/>
          </a:p>
        </p:txBody>
      </p:sp>
      <p:pic>
        <p:nvPicPr>
          <p:cNvPr id="4" name="Picture 3" descr="A black background with green and white text&#10;&#10;AI-generated content may be incorrect.">
            <a:extLst>
              <a:ext uri="{FF2B5EF4-FFF2-40B4-BE49-F238E27FC236}">
                <a16:creationId xmlns:a16="http://schemas.microsoft.com/office/drawing/2014/main" id="{6ADD9F70-C5DC-DF18-32D6-0C7A45B958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1113" y="2441909"/>
            <a:ext cx="9629775" cy="590550"/>
          </a:xfrm>
          <a:prstGeom prst="rect">
            <a:avLst/>
          </a:prstGeom>
        </p:spPr>
      </p:pic>
      <p:pic>
        <p:nvPicPr>
          <p:cNvPr id="5" name="Picture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DB076CBD-8214-FC5F-D161-B6C0990D84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94350"/>
            <a:ext cx="12192000" cy="271940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284BFD0-B67B-7A2C-6DCB-B8E25A05A715}"/>
              </a:ext>
            </a:extLst>
          </p:cNvPr>
          <p:cNvSpPr txBox="1"/>
          <p:nvPr/>
        </p:nvSpPr>
        <p:spPr>
          <a:xfrm>
            <a:off x="270710" y="3258552"/>
            <a:ext cx="1554078" cy="5847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200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1548182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27CAE-2974-FA42-AE51-CD5A8F3A2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674" y="74362"/>
            <a:ext cx="7076574" cy="984668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200" dirty="0"/>
              <a:t>How KO to Pathway Mapping is done ? 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DFA2B3-C062-F2ED-8CF7-F45733E5CD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8218" y="1192881"/>
            <a:ext cx="3533775" cy="5665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6148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3EC11-4304-60DC-9F12-A9A1349F4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095" y="94414"/>
            <a:ext cx="5682916" cy="1205247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200">
                <a:latin typeface="Aptos"/>
              </a:rPr>
              <a:t>Step 10: KO Pathway Mapping</a:t>
            </a:r>
            <a:endParaRPr lang="en-US" sz="3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BD56A7-4B0B-524E-7476-E429D913E1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095" y="1334335"/>
            <a:ext cx="10936705" cy="121310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2200">
                <a:ea typeface="+mn-lt"/>
                <a:cs typeface="+mn-lt"/>
              </a:rPr>
              <a:t>Tool: grep, sed</a:t>
            </a:r>
          </a:p>
          <a:p>
            <a:pPr>
              <a:buNone/>
            </a:pPr>
            <a:r>
              <a:rPr lang="en-US" sz="2200">
                <a:ea typeface="+mn-lt"/>
                <a:cs typeface="+mn-lt"/>
              </a:rPr>
              <a:t>Function: Maps KO IDs to KEGG metabolic pathways using KEGG mapping tables.</a:t>
            </a:r>
            <a:endParaRPr lang="en-US" sz="2200"/>
          </a:p>
          <a:p>
            <a:pPr marL="0" indent="0">
              <a:buNone/>
            </a:pPr>
            <a:endParaRPr lang="en-US" sz="2200"/>
          </a:p>
        </p:txBody>
      </p:sp>
      <p:pic>
        <p:nvPicPr>
          <p:cNvPr id="4" name="Picture 3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CFBB6867-4456-FA81-7722-46B121BDFB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125" y="2262438"/>
            <a:ext cx="9429750" cy="1771650"/>
          </a:xfrm>
          <a:prstGeom prst="rect">
            <a:avLst/>
          </a:prstGeom>
        </p:spPr>
      </p:pic>
      <p:pic>
        <p:nvPicPr>
          <p:cNvPr id="5" name="Picture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BF6EF28F-4D36-0B2D-4CE0-38E02675C5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191333"/>
            <a:ext cx="12192000" cy="2525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3736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71D87-7D4E-447B-7DFF-690A54F57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016" y="84388"/>
            <a:ext cx="5191627" cy="1165142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200">
                <a:latin typeface="Aptos"/>
              </a:rPr>
              <a:t>Step 11: Add Pathway Titles</a:t>
            </a:r>
            <a:endParaRPr lang="en-US" sz="3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AFBA83-1BF3-775B-7F5F-28D57EB6B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7016" y="1374441"/>
            <a:ext cx="10966784" cy="117299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2200">
                <a:ea typeface="+mn-lt"/>
                <a:cs typeface="+mn-lt"/>
              </a:rPr>
              <a:t>Tool: awk</a:t>
            </a:r>
          </a:p>
          <a:p>
            <a:pPr>
              <a:buNone/>
            </a:pPr>
            <a:r>
              <a:rPr lang="en-US" sz="2200">
                <a:ea typeface="+mn-lt"/>
                <a:cs typeface="+mn-lt"/>
              </a:rPr>
              <a:t>Function: Adds descriptive pathway names to KO-pathway mappings for clearer interpretation.</a:t>
            </a:r>
            <a:endParaRPr lang="en-US" sz="2200"/>
          </a:p>
          <a:p>
            <a:pPr marL="0" indent="0">
              <a:buNone/>
            </a:pPr>
            <a:endParaRPr lang="en-US" sz="2200"/>
          </a:p>
        </p:txBody>
      </p:sp>
      <p:pic>
        <p:nvPicPr>
          <p:cNvPr id="4" name="Picture 3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C017E5C4-F6E9-25D3-4C44-314A89E14F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6894" y="2479007"/>
            <a:ext cx="6477000" cy="1619250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C5E76E9-A911-32AB-C03A-36C7DA06B8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316" y="4221411"/>
            <a:ext cx="12192000" cy="2525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2057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E01DF-0188-7BD5-AA1A-26E859E7D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911" y="254836"/>
            <a:ext cx="4409573" cy="1084931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200">
                <a:latin typeface="Aptos"/>
              </a:rPr>
              <a:t>Step 12: Clean KO Table</a:t>
            </a:r>
            <a:endParaRPr lang="en-US" sz="3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F6883-8B33-B97E-823F-194FBCD20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911" y="1464678"/>
            <a:ext cx="11006889" cy="109278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2200">
                <a:ea typeface="+mn-lt"/>
                <a:cs typeface="+mn-lt"/>
              </a:rPr>
              <a:t>Tool: awk </a:t>
            </a:r>
          </a:p>
          <a:p>
            <a:pPr>
              <a:buNone/>
            </a:pPr>
            <a:r>
              <a:rPr lang="en-US" sz="2200">
                <a:ea typeface="+mn-lt"/>
                <a:cs typeface="+mn-lt"/>
              </a:rPr>
              <a:t>Function: Cleans and formats KO annotation data to prepare for merging.</a:t>
            </a:r>
            <a:endParaRPr lang="en-US" sz="2200"/>
          </a:p>
          <a:p>
            <a:pPr marL="0" indent="0">
              <a:buNone/>
            </a:pPr>
            <a:endParaRPr lang="en-US" sz="2200"/>
          </a:p>
        </p:txBody>
      </p:sp>
      <p:pic>
        <p:nvPicPr>
          <p:cNvPr id="4" name="Picture 3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A4725894-2ADD-88E6-F6CB-D4BB5D9624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449" y="2561223"/>
            <a:ext cx="6505575" cy="1314450"/>
          </a:xfrm>
          <a:prstGeom prst="rect">
            <a:avLst/>
          </a:prstGeom>
        </p:spPr>
      </p:pic>
      <p:pic>
        <p:nvPicPr>
          <p:cNvPr id="5" name="Picture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50446002-735E-212D-4137-B93B9B0B1E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060991"/>
            <a:ext cx="12192000" cy="2525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5497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F6776-2401-4242-11C1-B637960D6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437" y="94414"/>
            <a:ext cx="5562600" cy="1104984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200">
                <a:latin typeface="Aptos"/>
              </a:rPr>
              <a:t>Step 13: Join KO and Pathways</a:t>
            </a:r>
            <a:endParaRPr lang="en-US" sz="3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88D915-5181-A11F-A418-22A732E842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358" y="1294230"/>
            <a:ext cx="11167310" cy="111283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2200">
                <a:ea typeface="+mn-lt"/>
                <a:cs typeface="+mn-lt"/>
              </a:rPr>
              <a:t>Tool: awk </a:t>
            </a:r>
          </a:p>
          <a:p>
            <a:pPr>
              <a:buNone/>
            </a:pPr>
            <a:r>
              <a:rPr lang="en-US" sz="2200">
                <a:ea typeface="+mn-lt"/>
                <a:cs typeface="+mn-lt"/>
              </a:rPr>
              <a:t>Function: Joins cleaned KO data with pathway mappings into a master annotation table.</a:t>
            </a:r>
            <a:endParaRPr lang="en-US" sz="2200"/>
          </a:p>
          <a:p>
            <a:pPr marL="0" indent="0">
              <a:buNone/>
            </a:pPr>
            <a:endParaRPr lang="en-US" sz="2200"/>
          </a:p>
        </p:txBody>
      </p:sp>
      <p:pic>
        <p:nvPicPr>
          <p:cNvPr id="4" name="Picture 3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A802ACA8-432E-D8A0-9B3D-366A095EF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7937" y="2138364"/>
            <a:ext cx="6334125" cy="1819275"/>
          </a:xfrm>
          <a:prstGeom prst="rect">
            <a:avLst/>
          </a:prstGeom>
        </p:spPr>
      </p:pic>
      <p:pic>
        <p:nvPicPr>
          <p:cNvPr id="5" name="Picture 4" descr="A computer screen shot of white text&#10;&#10;AI-generated content may be incorrect.">
            <a:extLst>
              <a:ext uri="{FF2B5EF4-FFF2-40B4-BE49-F238E27FC236}">
                <a16:creationId xmlns:a16="http://schemas.microsoft.com/office/drawing/2014/main" id="{1E273491-E75A-117F-E508-D72BB683E2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66629"/>
            <a:ext cx="12192000" cy="1934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8087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22F21-8AF4-4E19-D550-FCD3BDB27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595" y="84388"/>
            <a:ext cx="6274469" cy="884405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200">
                <a:latin typeface="Aptos"/>
              </a:rPr>
              <a:t>Step 14: Generate Pathway Counts</a:t>
            </a:r>
            <a:endParaRPr lang="en-US" sz="3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B9BAB-2EE0-07F6-7B21-EC1229A4F1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6595" y="973388"/>
            <a:ext cx="11127205" cy="123315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2200">
                <a:ea typeface="+mn-lt"/>
                <a:cs typeface="+mn-lt"/>
              </a:rPr>
              <a:t>Tool: awk</a:t>
            </a:r>
          </a:p>
          <a:p>
            <a:pPr>
              <a:buNone/>
            </a:pPr>
            <a:r>
              <a:rPr lang="en-US" sz="2200">
                <a:ea typeface="+mn-lt"/>
                <a:cs typeface="+mn-lt"/>
              </a:rPr>
              <a:t>Function: Counts the number of genes in each KEGG pathway, summarizing metabolic capabilities.</a:t>
            </a:r>
            <a:endParaRPr lang="en-US" sz="2200"/>
          </a:p>
          <a:p>
            <a:pPr marL="0" indent="0">
              <a:buNone/>
            </a:pPr>
            <a:endParaRPr lang="en-US" sz="2200"/>
          </a:p>
        </p:txBody>
      </p:sp>
      <p:pic>
        <p:nvPicPr>
          <p:cNvPr id="4" name="Picture 3" descr="A computer screen shot of white text&#10;&#10;AI-generated content may be incorrect.">
            <a:extLst>
              <a:ext uri="{FF2B5EF4-FFF2-40B4-BE49-F238E27FC236}">
                <a16:creationId xmlns:a16="http://schemas.microsoft.com/office/drawing/2014/main" id="{475945D1-3145-9C8D-8E5F-3A94ABB4BC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8860" y="1883444"/>
            <a:ext cx="5762625" cy="2258929"/>
          </a:xfrm>
          <a:prstGeom prst="rect">
            <a:avLst/>
          </a:prstGeom>
        </p:spPr>
      </p:pic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FB7D4369-7F84-75FC-F768-6D43578877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10151"/>
            <a:ext cx="12192000" cy="2568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6142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FA194-751E-D559-8BEC-AC7A77606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010" y="14204"/>
            <a:ext cx="8660732" cy="854326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200" dirty="0"/>
              <a:t>Cross-Validation of Results with Web-based tool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F3A60E-F112-F97C-664A-B46AC8FCE6F8}"/>
              </a:ext>
            </a:extLst>
          </p:cNvPr>
          <p:cNvSpPr txBox="1"/>
          <p:nvPr/>
        </p:nvSpPr>
        <p:spPr>
          <a:xfrm>
            <a:off x="9003632" y="150395"/>
            <a:ext cx="2707105" cy="58477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200" dirty="0" err="1"/>
              <a:t>KofamKOALA</a:t>
            </a:r>
            <a:endParaRPr lang="en-US" sz="3200" dirty="0"/>
          </a:p>
        </p:txBody>
      </p:sp>
      <p:pic>
        <p:nvPicPr>
          <p:cNvPr id="5" name="Picture 4" descr="A screenshot of a search">
            <a:extLst>
              <a:ext uri="{FF2B5EF4-FFF2-40B4-BE49-F238E27FC236}">
                <a16:creationId xmlns:a16="http://schemas.microsoft.com/office/drawing/2014/main" id="{7319EB92-3018-8D15-6658-22AC507E8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6632" y="3036720"/>
            <a:ext cx="6126080" cy="3812508"/>
          </a:xfrm>
          <a:prstGeom prst="rect">
            <a:avLst/>
          </a:prstGeom>
        </p:spPr>
      </p:pic>
      <p:pic>
        <p:nvPicPr>
          <p:cNvPr id="6" name="Picture 5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B1A6B9E3-881B-1F3E-B1A1-32A8D03595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946632"/>
            <a:ext cx="12192000" cy="207715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52E5140-C0A2-FC0B-8865-32D364B92B09}"/>
              </a:ext>
            </a:extLst>
          </p:cNvPr>
          <p:cNvSpPr txBox="1"/>
          <p:nvPr/>
        </p:nvSpPr>
        <p:spPr>
          <a:xfrm>
            <a:off x="170447" y="3609473"/>
            <a:ext cx="2255920" cy="110799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dirty="0"/>
              <a:t>Total entries in Web tool &amp; </a:t>
            </a:r>
            <a:r>
              <a:rPr lang="en-US" sz="2200" dirty="0" err="1"/>
              <a:t>cmd</a:t>
            </a:r>
            <a:r>
              <a:rPr lang="en-US" sz="2200" dirty="0"/>
              <a:t> = </a:t>
            </a:r>
            <a:r>
              <a:rPr lang="en-US" sz="2200" b="1" dirty="0"/>
              <a:t>2614</a:t>
            </a:r>
          </a:p>
        </p:txBody>
      </p:sp>
    </p:spTree>
    <p:extLst>
      <p:ext uri="{BB962C8B-B14F-4D97-AF65-F5344CB8AC3E}">
        <p14:creationId xmlns:p14="http://schemas.microsoft.com/office/powerpoint/2010/main" val="24625893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F2075-CDC3-A186-63D7-02602F9F0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280" y="154572"/>
            <a:ext cx="8620627" cy="73401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200" dirty="0"/>
              <a:t>Cross-Validation of Results with Web-based tool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D66F5B-25E5-BD0E-4B08-A99452CDC30A}"/>
              </a:ext>
            </a:extLst>
          </p:cNvPr>
          <p:cNvSpPr txBox="1"/>
          <p:nvPr/>
        </p:nvSpPr>
        <p:spPr>
          <a:xfrm>
            <a:off x="9083842" y="230605"/>
            <a:ext cx="2677026" cy="58477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dirty="0"/>
              <a:t>KEGG Mapper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5E77F0-4582-5CBD-B75A-4BDD6F47CB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06543"/>
            <a:ext cx="12192000" cy="267975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7419184-0924-DD7A-09C4-3872EF0AD4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2090" y="3908509"/>
            <a:ext cx="3571875" cy="2790825"/>
          </a:xfrm>
          <a:prstGeom prst="rect">
            <a:avLst/>
          </a:prstGeom>
        </p:spPr>
      </p:pic>
      <p:pic>
        <p:nvPicPr>
          <p:cNvPr id="7" name="Picture 6" descr="A screenshot of a graph">
            <a:extLst>
              <a:ext uri="{FF2B5EF4-FFF2-40B4-BE49-F238E27FC236}">
                <a16:creationId xmlns:a16="http://schemas.microsoft.com/office/drawing/2014/main" id="{4BF48F44-6AE3-D9EF-3784-49538B48D9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285" y="3909260"/>
            <a:ext cx="4415590" cy="85424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8AC59A0-B43B-7B25-ADBB-29569CAE69E8}"/>
              </a:ext>
            </a:extLst>
          </p:cNvPr>
          <p:cNvSpPr txBox="1"/>
          <p:nvPr/>
        </p:nvSpPr>
        <p:spPr>
          <a:xfrm>
            <a:off x="110289" y="5123448"/>
            <a:ext cx="3178341" cy="76944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dirty="0"/>
              <a:t>Total entries in Web tool &amp; CMD = </a:t>
            </a:r>
            <a:r>
              <a:rPr lang="en-US" sz="2200" b="1" dirty="0"/>
              <a:t>245</a:t>
            </a:r>
          </a:p>
        </p:txBody>
      </p:sp>
    </p:spTree>
    <p:extLst>
      <p:ext uri="{BB962C8B-B14F-4D97-AF65-F5344CB8AC3E}">
        <p14:creationId xmlns:p14="http://schemas.microsoft.com/office/powerpoint/2010/main" val="19119364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BEF54-5667-EEF4-DAD9-18B514671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674" y="74362"/>
            <a:ext cx="3727785" cy="693905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200" dirty="0"/>
              <a:t>Automated Pipeline</a:t>
            </a:r>
          </a:p>
        </p:txBody>
      </p:sp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46056935-F253-7D4E-87EA-B9DB20CBC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4512" y="1848602"/>
            <a:ext cx="8562975" cy="41433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3108374-151B-885F-448F-0EDCC41E6267}"/>
              </a:ext>
            </a:extLst>
          </p:cNvPr>
          <p:cNvSpPr txBox="1"/>
          <p:nvPr/>
        </p:nvSpPr>
        <p:spPr>
          <a:xfrm>
            <a:off x="260684" y="942474"/>
            <a:ext cx="11109157" cy="76944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 dirty="0"/>
              <a:t>final_run.sh</a:t>
            </a:r>
            <a:r>
              <a:rPr lang="en-US" sz="2200" dirty="0"/>
              <a:t> file contains an automated running pipeline with </a:t>
            </a:r>
            <a:r>
              <a:rPr lang="en-US" sz="2200" b="1" dirty="0" err="1"/>
              <a:t>conda</a:t>
            </a:r>
            <a:r>
              <a:rPr lang="en-US" sz="2200" b="1" dirty="0"/>
              <a:t> Env </a:t>
            </a:r>
            <a:r>
              <a:rPr lang="en-US" sz="2200" dirty="0"/>
              <a:t>as well as </a:t>
            </a:r>
            <a:r>
              <a:rPr lang="en-US" sz="2200" b="1" dirty="0"/>
              <a:t>tools installation </a:t>
            </a:r>
            <a:r>
              <a:rPr lang="en-US" sz="2200" dirty="0"/>
              <a:t>and its </a:t>
            </a:r>
            <a:r>
              <a:rPr lang="en-US" sz="2200" b="1" dirty="0"/>
              <a:t>dependent packages</a:t>
            </a:r>
            <a:r>
              <a:rPr lang="en-US" sz="2200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EF6ABB-5F9F-DD3A-70FC-C92A8D46F02D}"/>
              </a:ext>
            </a:extLst>
          </p:cNvPr>
          <p:cNvSpPr txBox="1"/>
          <p:nvPr/>
        </p:nvSpPr>
        <p:spPr>
          <a:xfrm>
            <a:off x="762000" y="6216316"/>
            <a:ext cx="9615236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solidFill>
                  <a:srgbClr val="00B0F0"/>
                </a:solidFill>
                <a:ea typeface="+mn-lt"/>
                <a:cs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https://github.com/Bharat-Genome-Database-BGDB/CoGe_Pipeline/tree/main/group%202</a:t>
            </a:r>
            <a:endParaRPr lang="en-US">
              <a:solidFill>
                <a:srgbClr val="00B0F0"/>
              </a:solidFill>
              <a:ea typeface="+mn-lt"/>
              <a:cs typeface="+mn-lt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endParaRPr lang="en-US" dirty="0">
              <a:solidFill>
                <a:srgbClr val="00B0F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21D48A-3C4B-77E7-766B-049E023C9B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9" y="6212557"/>
            <a:ext cx="755984" cy="649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0596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8F6A5-D1B7-97C4-B92F-9248CFE92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249" y="77051"/>
            <a:ext cx="4326673" cy="925978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200" dirty="0"/>
              <a:t>Pipeline running status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CBC38F-95C2-D0E7-B6CC-959197D394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133" y="1523651"/>
            <a:ext cx="6157565" cy="39500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E970AF6-FD39-E1A7-F701-C1BFDA5E9F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1075" y="1526555"/>
            <a:ext cx="5383019" cy="3953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8437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D02D3-1D3C-D73E-0079-E7BC21255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273" y="188564"/>
            <a:ext cx="2858428" cy="860930"/>
          </a:xfr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4000" dirty="0"/>
              <a:t>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F9860C6-8FD7-BBE4-9E2A-474F87489A7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64274" y="1342406"/>
          <a:ext cx="10534185" cy="48345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774622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885B7-BCDE-B46B-08EB-563EAD73A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1173" y="1327651"/>
            <a:ext cx="8259680" cy="3771984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sz="4800" b="1" dirty="0"/>
              <a:t>THANK YOU !!</a:t>
            </a: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9568180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32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office theme</vt:lpstr>
      <vt:lpstr>Metabolic Pathway &amp; Enzyme Annotation Pipeline</vt:lpstr>
      <vt:lpstr>Why this pipeline ?</vt:lpstr>
      <vt:lpstr>Introduction</vt:lpstr>
      <vt:lpstr>Workflow</vt:lpstr>
      <vt:lpstr>Workflow (Manual Run)</vt:lpstr>
      <vt:lpstr>Step 1: FastQC</vt:lpstr>
      <vt:lpstr>Step 1: FastQC Output</vt:lpstr>
      <vt:lpstr>Step 2: fastp</vt:lpstr>
      <vt:lpstr>Step 2: fastp Output</vt:lpstr>
      <vt:lpstr>Step 3: FastQC (Post-trimming)</vt:lpstr>
      <vt:lpstr>Step 3: FastQC (Post-trimming) Output</vt:lpstr>
      <vt:lpstr>Step 4: SPAdes</vt:lpstr>
      <vt:lpstr>Step 4: SPAdes Output</vt:lpstr>
      <vt:lpstr>Step 5: QUAST</vt:lpstr>
      <vt:lpstr>Step 5: QUAST Output</vt:lpstr>
      <vt:lpstr>Step 6: Prokka</vt:lpstr>
      <vt:lpstr>Step 7: KOfamScan</vt:lpstr>
      <vt:lpstr>Step 7: KOfamScan Output</vt:lpstr>
      <vt:lpstr>Step 8: Filter KO Annotations</vt:lpstr>
      <vt:lpstr>Step 9: Extract KO IDs</vt:lpstr>
      <vt:lpstr>How KO to Pathway Mapping is done ? </vt:lpstr>
      <vt:lpstr>Step 10: KO Pathway Mapping</vt:lpstr>
      <vt:lpstr>Step 11: Add Pathway Titles</vt:lpstr>
      <vt:lpstr>Step 12: Clean KO Table</vt:lpstr>
      <vt:lpstr>Step 13: Join KO and Pathways</vt:lpstr>
      <vt:lpstr>Step 14: Generate Pathway Counts</vt:lpstr>
      <vt:lpstr>Cross-Validation of Results with Web-based tool</vt:lpstr>
      <vt:lpstr>Cross-Validation of Results with Web-based tool</vt:lpstr>
      <vt:lpstr>Automated Pipeline</vt:lpstr>
      <vt:lpstr>Pipeline running status</vt:lpstr>
      <vt:lpstr>Conclusion</vt:lpstr>
      <vt:lpstr>THANK YOU 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revision>287</cp:revision>
  <dcterms:created xsi:type="dcterms:W3CDTF">2013-07-15T20:26:40Z</dcterms:created>
  <dcterms:modified xsi:type="dcterms:W3CDTF">2025-11-19T07:34:22Z</dcterms:modified>
</cp:coreProperties>
</file>